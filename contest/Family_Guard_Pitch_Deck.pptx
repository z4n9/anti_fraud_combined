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Guard — конкурсный проект Caspian University. Family Bank — клиентский банк. Family Guard объединяет добровольное семейное согласование и кабинет аналитика. Представляем обновлённый MVP от 15 октября 2026 с объяснимыми правилами, фиксированным кворумом и мониторингом небольших поступлений. Все деньги тестовые. ФИО участников команда добавляет перед подачей.</a:t>
            </a:r>
          </a:p>
          <a:p/>
          <a:p>
            <a:r>
              <a:t>Источники и проверка:</a:t>
            </a:r>
          </a:p>
          <a:p>
            <a:r>
              <a:t>docs/contest-requirements.md</a:t>
            </a:r>
          </a:p>
          <a:p>
            <a:r>
              <a:t>docs/mvp-release.md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Нацбанк сообщает о 80 871 инциденте по транзакциям с признаками мошенничества на 1 января 2026 года. Это зарегистрированные инциденты Антифрод-центра, а не число потерпевших или наш адресуемый рынок. Мы фокусируемся на ситуации, когда клиент сам совершает перевод под давлением. Первичная аудитория — клиенты, добровольно подключившие семейную защиту. Возможный заказчик пилота — банк с мобильными переводами и действующей командой антифрода. Коммерческую модель проверим с партнёром.</a:t>
            </a:r>
          </a:p>
          <a:p/>
          <a:p>
            <a:r>
              <a:t>Источники и проверка:</a:t>
            </a:r>
          </a:p>
          <a:p>
            <a:r>
              <a:t>https://nationalbank.kz/ru/news/informacionnye-soobshcheniya/18571</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 выключённой защите высокий риск показывает предупреждение, причины и рекомендацию подключить Family Guard. Клиент может осознанно продолжить отдельной кнопкой, если AntiScam не требует банковской проверки. При включённой защите высокий риск фиксирует состав до трёх согласившихся родственников. Нужны все голоса. Единогласное одобрение разрешает перевод с учётом AntiScam, отказ завершает заявку, конфликт направляет её сотруднику. До разрешения списания нет. Включённую, но незавершённую настройку обойти нельзя.</a:t>
            </a:r>
          </a:p>
          <a:p/>
          <a:p>
            <a:r>
              <a:t>Источники и проверка:</a:t>
            </a:r>
          </a:p>
          <a:p>
            <a:r>
              <a:t>docs/decisions.md ADR-013 ADR-016</a:t>
            </a:r>
          </a:p>
          <a:p>
            <a:r>
              <a:t>backend/app/services/transfer_approval_service.py</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 выключённой защите высокий риск показывает предупреждение, причины и рекомендацию подключить Family Guard. Клиент может осознанно продолжить отдельной кнопкой, если AntiScam не требует банковской проверки. При включённой защите высокий риск фиксирует состав до трёх согласившихся родственников. Нужны все голоса. Единогласное одобрение разрешает перевод с учётом AntiScam, отказ завершает заявку, конфликт направляет её сотруднику. До разрешения списания нет. Включённую, но незавершённую настройку обойти нельзя. Отключение защиты и удаление родственника требуют 24 часов с возможностью отмены. Изменение получателя или суммы требует нового запроса. Средства в ожидании не резервируются.</a:t>
            </a:r>
          </a:p>
          <a:p/>
          <a:p>
            <a:r>
              <a:t>Источники и проверка:</a:t>
            </a:r>
          </a:p>
          <a:p>
            <a:r>
              <a:t>docs/decisions.md ADR-013</a:t>
            </a:r>
          </a:p>
          <a:p>
            <a:r>
              <a:t>backend/tests/test_multi_family_workflow.py</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проверенной версии действует движок правил и ограниченный граф связей. Он использует признаки операции и доступную историю, формирует сигнал и понятные объяснения. Исторические признаки не должны использовать будущие операции. Мы отдельно учитываем ограничения данных. AntiScam сохраняет ответы о давлении, секретности и незнакомце и может направить заявку в банковскую проверку. Обученный и валидированный ML-артефакт в этом демо не заявляется. Число на экране — сигнал правил, а не калиброванная вероятность мошенничества.</a:t>
            </a:r>
          </a:p>
          <a:p/>
          <a:p>
            <a:r>
              <a:t>Источники и проверка:</a:t>
            </a:r>
          </a:p>
          <a:p>
            <a:r>
              <a:t>backend/app/services/transaction_rules.py</a:t>
            </a:r>
          </a:p>
          <a:p>
            <a:r>
              <a:t>docs/mvp-release.md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Клиентский интерфейс и кабинет аналитика обращаются к одному FastAPI-сервису. Внутри разделены банковское ядро, семейное согласование, антифрод и аналитическая обработка. Сервер контролирует роли. Банк и аудит используют SQLite, аналитические результаты находятся в приватном хранилище. Постоянный Docker-том сохраняет состояние при пересоздании контейнера. Такой состав упрощает демонстрацию. Промышленное многопроцессное масштабирование пока не реализовано: перед пилотом нужно измерить нагрузку и определить следующую конфигурацию хранения и заданий.</a:t>
            </a:r>
          </a:p>
          <a:p/>
          <a:p>
            <a:r>
              <a:t>Источники и проверка:</a:t>
            </a:r>
          </a:p>
          <a:p>
            <a:r>
              <a:t>Dockerfile</a:t>
            </a:r>
          </a:p>
          <a:p>
            <a:r>
              <a:t>compose.yaml</a:t>
            </a:r>
          </a:p>
          <a:p>
            <a:r>
              <a:t>docs/architecture.md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Family Guard показывает банковские события без CSV и поддерживает отдельные анализы файлов CSV, JSON, SQL, SQLite и BSON. Новый мониторинг читает банковскую историю либо собственный завершённый анализ. Он ищет сильнейшее историческое окно 60 минут с десятью и более небольшими поступлениями до десяти тысяч KZT, минимум восемью новыми отправителями и долей новых от восьмидесяти процентов. В примере из тридцати строк один получатель получает двенадцать переводов на 51 500 KZT. Контрольный получатель с прежней историей не отмечается. Новизна определяется только доступными данными. Сигнал не блокирует переводы и может затрагивать законные сборы. MoMTSim v2: Denish Azamuke, Mendeley Data, CC BY 4.0, синтетически восстановленное время.</a:t>
            </a:r>
          </a:p>
          <a:p/>
          <a:p>
            <a:r>
              <a:t>Источники и проверка:</a:t>
            </a:r>
          </a:p>
          <a:p>
            <a:r>
              <a:t>docs/recipient-monitoring.md</a:t>
            </a:r>
          </a:p>
          <a:p>
            <a:r>
              <a:t>examples/recipient_monitoring_demo.csv</a:t>
            </a:r>
          </a:p>
          <a:p>
            <a:r>
              <a:t>https://data.mendeley.com/datasets/zhj366m53p/2</a:t>
            </a:r>
          </a:p>
          <a:p>
            <a:r>
              <a:t>docs/dataset-attribution.md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Последняя полная функциональная проверка после ребрендинга 15 октября: 379 backend-тестов прошли и семь пропущены. Семьдесят frontend-тестов, lint и production build прошли. Реальные загрузка, план, запуск и мониторинг синтетического файла проверены без изменения банковских денег. Страница и карточка проверены в браузере на широком и мобильном экранах. Эти результаты не измеряют точность обнаружения мошенничества. Для precision и recall нужен отдельный воспроизводимый отчёт на фиксированном наборе.</a:t>
            </a:r>
          </a:p>
          <a:p/>
          <a:p>
            <a:r>
              <a:t>Источники и проверка:</a:t>
            </a:r>
          </a:p>
          <a:p>
            <a:r>
              <a:t>docs/testing.md</a:t>
            </a:r>
          </a:p>
          <a:p>
            <a:r>
              <a:t>docs/recipient-monitoring.md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Основной тест легко показать жюри. На чистой репетиционной базе Амина подключает Марата и Сауле. Оба принимают приглашения. Она создаёт перевод в 85% доступного баланса Айдане. Марат одобряет, Сауле отклоняет. До банковского решения деньги остаются на счёте отправителя. Сотрудник указывает основание и разрешает перевод. Автоматические проверки подтверждают одну проводку с каждой стороны и аудит, в том числе при повторе команды. Средства не резервируются: окончательное исполнение снова проверяет доступный баланс.</a:t>
            </a:r>
          </a:p>
          <a:p/>
          <a:p>
            <a:r>
              <a:t>Источники и проверка:</a:t>
            </a:r>
          </a:p>
          <a:p>
            <a:r>
              <a:t>scripts/smoke_demo.py</a:t>
            </a:r>
          </a:p>
          <a:p>
            <a:r>
              <a:t>PRESENTATION_GUIDE.md</a:t>
            </a:r>
          </a:p>
          <a:p>
            <a:r>
              <a:t>docs/presentation-check.md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оцениваем готовность как TRL 4: интегрированные компоненты прошли проверки в контролируемой среде. Это самооценка, а не сертификация. Главные риски — ложные тревоги, недоступность согласующего и компрометация аккаунта. Пока нет доказанной эффективности на реальных банковских данных. Система не гарантирует защиту при сговоре или ошибке всех участников. Реальные eGov и платёжные сети в демо не подключены. Для пилота нужны усиленная идентификация, тестирование нагрузки, эксплуатационные процедуры и согласованный сценарий исключений.</a:t>
            </a:r>
          </a:p>
          <a:p/>
          <a:p>
            <a:r>
              <a:t>Источники и проверка:</a:t>
            </a:r>
          </a:p>
          <a:p>
            <a:r>
              <a:t>docs/mvp-release.md</a:t>
            </a:r>
          </a:p>
          <a:p>
            <a:r>
              <a:t>CONTEST_SUBMISSION.md</a:t>
            </a:r>
          </a:p>
          <a:p>
            <a:r>
              <a:t>https://www.nasa.gov/directorates/somd/space-communications-navigation-program/technology-readiness-levels/</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 конкурса нам нужно развернуть публичное демо и отрепетировать показ. Затем предлагаем два этапа банковского пилота: сначала согласованные данные и оценка правил, затем интеграция с sandbox и проверка эксплуатации. Сроки зависят от доступа партнёра. Начальный сервер предлагаем за двенадцать долларов в месяц. За два полных месяца это двадцать четыре доллара только за вычисления. Это не полная стоимость разработки. Команде нужны компетенции бэкенда и данных, интерфейса и тестирования, а банку — эксперт антифрода и куратор интеграции. Персональный состав ещё уточняется. Бюджет сервера — историческая предварительная смета от 12 октября, перед оплатой тариф нужно перепроверить. Ребрендинг не является повторной проверкой цены.</a:t>
            </a:r>
          </a:p>
          <a:p/>
          <a:p>
            <a:r>
              <a:t>Источники и проверка:</a:t>
            </a:r>
          </a:p>
          <a:p>
            <a:r>
              <a:t>docs/contest-hosting-plan.md</a:t>
            </a:r>
          </a:p>
          <a:p>
            <a:r>
              <a:t>https://www.digitalocean.com/pricing/droplets</a:t>
            </a:r>
          </a:p>
          <a:p>
            <a:r>
              <a:t>docs/contest-requirements.md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предлагаем банку совместно проверить семейное согласование как дополнительный механизм защиты. У нас есть интегрированный MVP и воспроизводимые проверки финансового сценария. Следующий шаг — согласовать с экспертом антифрода критерии качества, получить разрешённые данные и показать полный процесс на sandbox. Публичная ссылка пока не готова, поэтому мы не подменяем её адресом localhost. Исходники размещены в репозитории, а локальный прототип запускается через Docker. Спасибо, готовы ответить на вопросы.</a:t>
            </a:r>
          </a:p>
          <a:p/>
          <a:p>
            <a:r>
              <a:t>Источники и проверка:</a:t>
            </a:r>
          </a:p>
          <a:p>
            <a:r>
              <a:t>https://github.com/z4n9/anti_fraud_combined</a:t>
            </a:r>
          </a:p>
          <a:p>
            <a:r>
              <a:t>docs/presentation-check.md</a:t>
            </a:r>
          </a:p>
          <a:p>
            <a:r>
              <a:t>Иллюстрация обложки создана ИИ и не изображает интерфейс продукта.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z4n9/anti_fraud_combined" TargetMode="External"/><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pic>
        <p:nvPicPr>
          <p:cNvPr id="2" name="Picture 1" descr="hero.pn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713232" y="1417320"/>
            <a:ext cx="6492240" cy="1005840"/>
          </a:xfrm>
          <a:prstGeom prst="rect">
            <a:avLst/>
          </a:prstGeom>
          <a:noFill/>
        </p:spPr>
        <p:txBody>
          <a:bodyPr wrap="square" lIns="0" rIns="0" tIns="0" bIns="0">
            <a:spAutoFit/>
          </a:bodyPr>
          <a:lstStyle/>
          <a:p>
            <a:pPr>
              <a:spcBef>
                <a:spcPts val="0"/>
              </a:spcBef>
              <a:spcAft>
                <a:spcPts val="600"/>
              </a:spcAft>
              <a:defRPr sz="5400" b="1">
                <a:solidFill>
                  <a:srgbClr val="F4F7F8"/>
                </a:solidFill>
                <a:latin typeface="Arial"/>
              </a:defRPr>
            </a:pPr>
            <a:r>
              <a:t>Family Guard</a:t>
            </a:r>
          </a:p>
        </p:txBody>
      </p:sp>
      <p:sp>
        <p:nvSpPr>
          <p:cNvPr id="4" name="TextBox 3"/>
          <p:cNvSpPr txBox="1"/>
          <p:nvPr/>
        </p:nvSpPr>
        <p:spPr>
          <a:xfrm>
            <a:off x="731520" y="2542032"/>
            <a:ext cx="5074920" cy="1371600"/>
          </a:xfrm>
          <a:prstGeom prst="rect">
            <a:avLst/>
          </a:prstGeom>
          <a:noFill/>
        </p:spPr>
        <p:txBody>
          <a:bodyPr wrap="square" lIns="0" rIns="0" tIns="0" bIns="0">
            <a:spAutoFit/>
          </a:bodyPr>
          <a:lstStyle/>
          <a:p>
            <a:pPr>
              <a:spcBef>
                <a:spcPts val="0"/>
              </a:spcBef>
              <a:spcAft>
                <a:spcPts val="600"/>
              </a:spcAft>
              <a:defRPr sz="3000" b="0">
                <a:solidFill>
                  <a:srgbClr val="F4F7F8"/>
                </a:solidFill>
                <a:latin typeface="Arial"/>
              </a:defRPr>
            </a:pPr>
            <a:r>
              <a:t>Защита переводов в Family Bank</a:t>
            </a:r>
          </a:p>
        </p:txBody>
      </p:sp>
      <p:sp>
        <p:nvSpPr>
          <p:cNvPr id="5" name="TextBox 4"/>
          <p:cNvSpPr txBox="1"/>
          <p:nvPr/>
        </p:nvSpPr>
        <p:spPr>
          <a:xfrm>
            <a:off x="731520" y="4828032"/>
            <a:ext cx="5303520" cy="411480"/>
          </a:xfrm>
          <a:prstGeom prst="rect">
            <a:avLst/>
          </a:prstGeom>
          <a:noFill/>
        </p:spPr>
        <p:txBody>
          <a:bodyPr wrap="square" lIns="0" rIns="0" tIns="0" bIns="0">
            <a:spAutoFit/>
          </a:bodyPr>
          <a:lstStyle/>
          <a:p>
            <a:pPr>
              <a:spcBef>
                <a:spcPts val="0"/>
              </a:spcBef>
              <a:spcAft>
                <a:spcPts val="600"/>
              </a:spcAft>
              <a:defRPr sz="1900" b="1">
                <a:solidFill>
                  <a:srgbClr val="45D6B4"/>
                </a:solidFill>
                <a:latin typeface="Arial"/>
              </a:defRPr>
            </a:pPr>
            <a:r>
              <a:t>Caspian University</a:t>
            </a:r>
          </a:p>
        </p:txBody>
      </p:sp>
      <p:sp>
        <p:nvSpPr>
          <p:cNvPr id="6" name="TextBox 5"/>
          <p:cNvSpPr txBox="1"/>
          <p:nvPr/>
        </p:nvSpPr>
        <p:spPr>
          <a:xfrm>
            <a:off x="731520" y="5367528"/>
            <a:ext cx="6126480" cy="731520"/>
          </a:xfrm>
          <a:prstGeom prst="rect">
            <a:avLst/>
          </a:prstGeom>
          <a:noFill/>
        </p:spPr>
        <p:txBody>
          <a:bodyPr wrap="square" lIns="0" rIns="0" tIns="0" bIns="0">
            <a:spAutoFit/>
          </a:bodyPr>
          <a:lstStyle/>
          <a:p>
            <a:pPr>
              <a:spcBef>
                <a:spcPts val="0"/>
              </a:spcBef>
              <a:spcAft>
                <a:spcPts val="600"/>
              </a:spcAft>
              <a:defRPr sz="1500" b="0">
                <a:solidFill>
                  <a:srgbClr val="A8BAC6"/>
                </a:solidFill>
                <a:latin typeface="Arial"/>
              </a:defRPr>
            </a:pPr>
            <a:r>
              <a:t>Алматы 2026</a:t>
            </a:r>
          </a:p>
          <a:p>
            <a:pPr>
              <a:spcBef>
                <a:spcPts val="0"/>
              </a:spcBef>
              <a:spcAft>
                <a:spcPts val="600"/>
              </a:spcAft>
              <a:defRPr sz="1500" b="0">
                <a:solidFill>
                  <a:srgbClr val="A8BAC6"/>
                </a:solidFill>
                <a:latin typeface="Arial"/>
              </a:defRPr>
            </a:pPr>
            <a:r>
              <a:t>Конкурс студенческих проектов АБРК</a:t>
            </a:r>
          </a:p>
        </p:txBody>
      </p:sp>
      <p:sp>
        <p:nvSpPr>
          <p:cNvPr id="7" name="TextBox 6"/>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01 / 12</a:t>
            </a:r>
          </a:p>
        </p:txBody>
      </p: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Контекст и аудитория</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Клиент может сам подтвердить навязанный перевод</a:t>
            </a:r>
          </a:p>
        </p:txBody>
      </p:sp>
      <p:sp>
        <p:nvSpPr>
          <p:cNvPr id="4" name="TextBox 3"/>
          <p:cNvSpPr txBox="1"/>
          <p:nvPr/>
        </p:nvSpPr>
        <p:spPr>
          <a:xfrm>
            <a:off x="731520" y="2377440"/>
            <a:ext cx="5577840" cy="1097280"/>
          </a:xfrm>
          <a:prstGeom prst="rect">
            <a:avLst/>
          </a:prstGeom>
          <a:noFill/>
        </p:spPr>
        <p:txBody>
          <a:bodyPr wrap="square" lIns="0" rIns="0" tIns="0" bIns="0">
            <a:spAutoFit/>
          </a:bodyPr>
          <a:lstStyle/>
          <a:p>
            <a:pPr>
              <a:spcBef>
                <a:spcPts val="0"/>
              </a:spcBef>
              <a:spcAft>
                <a:spcPts val="600"/>
              </a:spcAft>
              <a:defRPr sz="6600" b="1">
                <a:solidFill>
                  <a:srgbClr val="087F6B"/>
                </a:solidFill>
                <a:latin typeface="Arial"/>
              </a:defRPr>
            </a:pPr>
            <a:r>
              <a:t>80 871</a:t>
            </a:r>
          </a:p>
        </p:txBody>
      </p:sp>
      <p:sp>
        <p:nvSpPr>
          <p:cNvPr id="5" name="TextBox 4"/>
          <p:cNvSpPr txBox="1"/>
          <p:nvPr/>
        </p:nvSpPr>
        <p:spPr>
          <a:xfrm>
            <a:off x="768096" y="3639312"/>
            <a:ext cx="4983480" cy="1554480"/>
          </a:xfrm>
          <a:prstGeom prst="rect">
            <a:avLst/>
          </a:prstGeom>
          <a:noFill/>
        </p:spPr>
        <p:txBody>
          <a:bodyPr wrap="square" lIns="0" rIns="0" tIns="0" bIns="0">
            <a:spAutoFit/>
          </a:bodyPr>
          <a:lstStyle/>
          <a:p>
            <a:pPr>
              <a:spcBef>
                <a:spcPts val="0"/>
              </a:spcBef>
              <a:spcAft>
                <a:spcPts val="600"/>
              </a:spcAft>
              <a:defRPr sz="2400" b="0">
                <a:solidFill>
                  <a:srgbClr val="122936"/>
                </a:solidFill>
                <a:latin typeface="Arial"/>
              </a:defRPr>
            </a:pPr>
            <a:r>
              <a:t>инцидент по транзакциям с признаками мошенничества</a:t>
            </a:r>
          </a:p>
        </p:txBody>
      </p:sp>
      <p:sp>
        <p:nvSpPr>
          <p:cNvPr id="6" name="TextBox 5"/>
          <p:cNvSpPr txBox="1"/>
          <p:nvPr/>
        </p:nvSpPr>
        <p:spPr>
          <a:xfrm>
            <a:off x="6629400" y="2377440"/>
            <a:ext cx="4754880" cy="384048"/>
          </a:xfrm>
          <a:prstGeom prst="rect">
            <a:avLst/>
          </a:prstGeom>
          <a:noFill/>
        </p:spPr>
        <p:txBody>
          <a:bodyPr wrap="square" lIns="0" rIns="0" tIns="0" bIns="0">
            <a:spAutoFit/>
          </a:bodyPr>
          <a:lstStyle/>
          <a:p>
            <a:pPr>
              <a:spcBef>
                <a:spcPts val="0"/>
              </a:spcBef>
              <a:spcAft>
                <a:spcPts val="600"/>
              </a:spcAft>
              <a:defRPr sz="2000" b="1">
                <a:solidFill>
                  <a:srgbClr val="122936"/>
                </a:solidFill>
                <a:latin typeface="Arial"/>
              </a:defRPr>
            </a:pPr>
            <a:r>
              <a:t>Контекст Казахстана</a:t>
            </a:r>
          </a:p>
        </p:txBody>
      </p:sp>
      <p:sp>
        <p:nvSpPr>
          <p:cNvPr id="7" name="TextBox 6"/>
          <p:cNvSpPr txBox="1"/>
          <p:nvPr/>
        </p:nvSpPr>
        <p:spPr>
          <a:xfrm>
            <a:off x="6629400" y="2779776"/>
            <a:ext cx="4754880" cy="612648"/>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Данные Антифрод-центра на 1 января 2026 года</a:t>
            </a:r>
          </a:p>
        </p:txBody>
      </p:sp>
      <p:sp>
        <p:nvSpPr>
          <p:cNvPr id="8" name="TextBox 7"/>
          <p:cNvSpPr txBox="1"/>
          <p:nvPr/>
        </p:nvSpPr>
        <p:spPr>
          <a:xfrm>
            <a:off x="6629400" y="3383280"/>
            <a:ext cx="4754880" cy="384048"/>
          </a:xfrm>
          <a:prstGeom prst="rect">
            <a:avLst/>
          </a:prstGeom>
          <a:noFill/>
        </p:spPr>
        <p:txBody>
          <a:bodyPr wrap="square" lIns="0" rIns="0" tIns="0" bIns="0">
            <a:spAutoFit/>
          </a:bodyPr>
          <a:lstStyle/>
          <a:p>
            <a:pPr>
              <a:spcBef>
                <a:spcPts val="0"/>
              </a:spcBef>
              <a:spcAft>
                <a:spcPts val="600"/>
              </a:spcAft>
              <a:defRPr sz="2000" b="1">
                <a:solidFill>
                  <a:srgbClr val="122936"/>
                </a:solidFill>
                <a:latin typeface="Arial"/>
              </a:defRPr>
            </a:pPr>
            <a:r>
              <a:t>Пользователь</a:t>
            </a:r>
          </a:p>
        </p:txBody>
      </p:sp>
      <p:sp>
        <p:nvSpPr>
          <p:cNvPr id="9" name="TextBox 8"/>
          <p:cNvSpPr txBox="1"/>
          <p:nvPr/>
        </p:nvSpPr>
        <p:spPr>
          <a:xfrm>
            <a:off x="6629400" y="3785616"/>
            <a:ext cx="4754880" cy="612648"/>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Клиент, которому нужна дополнительная семейная защита</a:t>
            </a:r>
          </a:p>
        </p:txBody>
      </p:sp>
      <p:sp>
        <p:nvSpPr>
          <p:cNvPr id="10" name="TextBox 9"/>
          <p:cNvSpPr txBox="1"/>
          <p:nvPr/>
        </p:nvSpPr>
        <p:spPr>
          <a:xfrm>
            <a:off x="6629400" y="4389120"/>
            <a:ext cx="4754880" cy="384048"/>
          </a:xfrm>
          <a:prstGeom prst="rect">
            <a:avLst/>
          </a:prstGeom>
          <a:noFill/>
        </p:spPr>
        <p:txBody>
          <a:bodyPr wrap="square" lIns="0" rIns="0" tIns="0" bIns="0">
            <a:spAutoFit/>
          </a:bodyPr>
          <a:lstStyle/>
          <a:p>
            <a:pPr>
              <a:spcBef>
                <a:spcPts val="0"/>
              </a:spcBef>
              <a:spcAft>
                <a:spcPts val="600"/>
              </a:spcAft>
              <a:defRPr sz="2000" b="1">
                <a:solidFill>
                  <a:srgbClr val="122936"/>
                </a:solidFill>
                <a:latin typeface="Arial"/>
              </a:defRPr>
            </a:pPr>
            <a:r>
              <a:t>Заказчик пилота</a:t>
            </a:r>
          </a:p>
        </p:txBody>
      </p:sp>
      <p:sp>
        <p:nvSpPr>
          <p:cNvPr id="11" name="TextBox 10"/>
          <p:cNvSpPr txBox="1"/>
          <p:nvPr/>
        </p:nvSpPr>
        <p:spPr>
          <a:xfrm>
            <a:off x="6629400" y="4791456"/>
            <a:ext cx="4754880" cy="612648"/>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Банк с мобильными P2P-переводами и службой антифрода</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Источник: Национальный Банк Казахстана. Это контекст отрасли, а не размер рынка проекта.</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02 / 12</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Дополнительное согласование</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Семейная защита подключается добровольно</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Клиент</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Создаёт перевод. Сервер проверяет риск и показывает причины</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Родственники</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Отвечают из своих аккаунтов. До решения деньги остаются у клиента</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Сотрудник банка</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Разбирает конфликт голосов и фиксирует основание решения</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Без защиты высокий риск требует предупреждения и явного подтверждения клиента.</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03 / 12</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Правила семейного решения</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Кворум фиксируется при создании защищённого перевода</a:t>
            </a:r>
          </a:p>
        </p:txBody>
      </p:sp>
      <p:sp>
        <p:nvSpPr>
          <p:cNvPr id="4" name="TextBox 3"/>
          <p:cNvSpPr txBox="1"/>
          <p:nvPr/>
        </p:nvSpPr>
        <p:spPr>
          <a:xfrm>
            <a:off x="731520"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Защита выключена</a:t>
            </a:r>
          </a:p>
        </p:txBody>
      </p:sp>
      <p:sp>
        <p:nvSpPr>
          <p:cNvPr id="5" name="TextBox 4"/>
          <p:cNvSpPr txBox="1"/>
          <p:nvPr/>
        </p:nvSpPr>
        <p:spPr>
          <a:xfrm>
            <a:off x="731520"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Предупреждение и явное подтверждение риска клиентом</a:t>
            </a:r>
          </a:p>
        </p:txBody>
      </p:sp>
      <p:sp>
        <p:nvSpPr>
          <p:cNvPr id="6" name="TextBox 5"/>
          <p:cNvSpPr txBox="1"/>
          <p:nvPr/>
        </p:nvSpPr>
        <p:spPr>
          <a:xfrm>
            <a:off x="6473952"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Все согласны</a:t>
            </a:r>
          </a:p>
        </p:txBody>
      </p:sp>
      <p:sp>
        <p:nvSpPr>
          <p:cNvPr id="7" name="TextBox 6"/>
          <p:cNvSpPr txBox="1"/>
          <p:nvPr/>
        </p:nvSpPr>
        <p:spPr>
          <a:xfrm>
            <a:off x="6473952"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Все назначенные родственники ответили. Одобрение допускает перевод</a:t>
            </a:r>
          </a:p>
        </p:txBody>
      </p:sp>
      <p:sp>
        <p:nvSpPr>
          <p:cNvPr id="8" name="TextBox 7"/>
          <p:cNvSpPr txBox="1"/>
          <p:nvPr/>
        </p:nvSpPr>
        <p:spPr>
          <a:xfrm>
            <a:off x="731520"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Есть конфликт</a:t>
            </a:r>
          </a:p>
        </p:txBody>
      </p:sp>
      <p:sp>
        <p:nvSpPr>
          <p:cNvPr id="9" name="TextBox 8"/>
          <p:cNvSpPr txBox="1"/>
          <p:nvPr/>
        </p:nvSpPr>
        <p:spPr>
          <a:xfrm>
            <a:off x="731520"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Разные голоса передают решение сотруднику с основанием</a:t>
            </a:r>
          </a:p>
        </p:txBody>
      </p:sp>
      <p:sp>
        <p:nvSpPr>
          <p:cNvPr id="10" name="TextBox 9"/>
          <p:cNvSpPr txBox="1"/>
          <p:nvPr/>
        </p:nvSpPr>
        <p:spPr>
          <a:xfrm>
            <a:off x="6473952"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AntiScam</a:t>
            </a:r>
          </a:p>
        </p:txBody>
      </p:sp>
      <p:sp>
        <p:nvSpPr>
          <p:cNvPr id="11" name="TextBox 10"/>
          <p:cNvSpPr txBox="1"/>
          <p:nvPr/>
        </p:nvSpPr>
        <p:spPr>
          <a:xfrm>
            <a:off x="6473952"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Ответ о давлении может потребовать отдельной проверки банка</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До 3 родственников с личным согласием. Смена суммы или получателя требует нового согласования.</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04 / 12</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Объяснимый антифрод</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Детерминированные правила и ограниченный граф связей</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Признаки операции</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Сумма и получатель</a:t>
            </a:r>
          </a:p>
          <a:p>
            <a:pPr>
              <a:spcBef>
                <a:spcPts val="0"/>
              </a:spcBef>
              <a:spcAft>
                <a:spcPts val="600"/>
              </a:spcAft>
              <a:defRPr sz="2000" b="0">
                <a:solidFill>
                  <a:srgbClr val="A8BAC6"/>
                </a:solidFill>
                <a:latin typeface="Arial"/>
              </a:defRPr>
            </a:pPr>
            <a:r>
              <a:t>Доступная история</a:t>
            </a:r>
          </a:p>
          <a:p>
            <a:pPr>
              <a:spcBef>
                <a:spcPts val="0"/>
              </a:spcBef>
              <a:spcAft>
                <a:spcPts val="600"/>
              </a:spcAft>
              <a:defRPr sz="2000" b="0">
                <a:solidFill>
                  <a:srgbClr val="A8BAC6"/>
                </a:solidFill>
                <a:latin typeface="Arial"/>
              </a:defRPr>
            </a:pPr>
            <a:r>
              <a:t>Частота и связи переводов</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Объяснение сигнала</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Причины риска для решения</a:t>
            </a:r>
          </a:p>
          <a:p>
            <a:pPr>
              <a:spcBef>
                <a:spcPts val="0"/>
              </a:spcBef>
              <a:spcAft>
                <a:spcPts val="600"/>
              </a:spcAft>
              <a:defRPr sz="2000" b="0">
                <a:solidFill>
                  <a:srgbClr val="A8BAC6"/>
                </a:solidFill>
                <a:latin typeface="Arial"/>
              </a:defRPr>
            </a:pPr>
            <a:r>
              <a:t>Контроль полноты данных</a:t>
            </a:r>
          </a:p>
          <a:p>
            <a:pPr>
              <a:spcBef>
                <a:spcPts val="0"/>
              </a:spcBef>
              <a:spcAft>
                <a:spcPts val="600"/>
              </a:spcAft>
              <a:defRPr sz="2000" b="0">
                <a:solidFill>
                  <a:srgbClr val="A8BAC6"/>
                </a:solidFill>
                <a:latin typeface="Arial"/>
              </a:defRPr>
            </a:pPr>
            <a:r>
              <a:t>История до оцениваемой операции</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AntiScam</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Давление</a:t>
            </a:r>
          </a:p>
          <a:p>
            <a:pPr>
              <a:spcBef>
                <a:spcPts val="0"/>
              </a:spcBef>
              <a:spcAft>
                <a:spcPts val="600"/>
              </a:spcAft>
              <a:defRPr sz="2000" b="0">
                <a:solidFill>
                  <a:srgbClr val="A8BAC6"/>
                </a:solidFill>
                <a:latin typeface="Arial"/>
              </a:defRPr>
            </a:pPr>
            <a:r>
              <a:t>Просьба о секретности</a:t>
            </a:r>
          </a:p>
          <a:p>
            <a:pPr>
              <a:spcBef>
                <a:spcPts val="0"/>
              </a:spcBef>
              <a:spcAft>
                <a:spcPts val="600"/>
              </a:spcAft>
              <a:defRPr sz="2000" b="0">
                <a:solidFill>
                  <a:srgbClr val="A8BAC6"/>
                </a:solidFill>
                <a:latin typeface="Arial"/>
              </a:defRPr>
            </a:pPr>
            <a:r>
              <a:t>Незнакомый инициатор</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Работает режим правил. Оценка сигнала не является вероятностью мошенничества.</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05 / 12</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Архитектура MVP</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Один сервис с отдельными банковским и аналитическим модулями</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Интерфейсы</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Family Bank для клиента</a:t>
            </a:r>
          </a:p>
          <a:p>
            <a:pPr>
              <a:spcBef>
                <a:spcPts val="0"/>
              </a:spcBef>
              <a:spcAft>
                <a:spcPts val="600"/>
              </a:spcAft>
              <a:defRPr sz="2000" b="0">
                <a:solidFill>
                  <a:srgbClr val="A8BAC6"/>
                </a:solidFill>
                <a:latin typeface="Arial"/>
              </a:defRPr>
            </a:pPr>
            <a:r>
              <a:t>Family Guard для сотрудника</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FastAPI</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Авторизация и права</a:t>
            </a:r>
          </a:p>
          <a:p>
            <a:pPr>
              <a:spcBef>
                <a:spcPts val="0"/>
              </a:spcBef>
              <a:spcAft>
                <a:spcPts val="600"/>
              </a:spcAft>
              <a:defRPr sz="2000" b="0">
                <a:solidFill>
                  <a:srgbClr val="A8BAC6"/>
                </a:solidFill>
                <a:latin typeface="Arial"/>
              </a:defRPr>
            </a:pPr>
            <a:r>
              <a:t>Переводы и согласование</a:t>
            </a:r>
          </a:p>
          <a:p>
            <a:pPr>
              <a:spcBef>
                <a:spcPts val="0"/>
              </a:spcBef>
              <a:spcAft>
                <a:spcPts val="600"/>
              </a:spcAft>
              <a:defRPr sz="2000" b="0">
                <a:solidFill>
                  <a:srgbClr val="A8BAC6"/>
                </a:solidFill>
                <a:latin typeface="Arial"/>
              </a:defRPr>
            </a:pPr>
            <a:r>
              <a:t>Правила и аналитические задания</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Данные</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SQLite для банка и аудита</a:t>
            </a:r>
          </a:p>
          <a:p>
            <a:pPr>
              <a:spcBef>
                <a:spcPts val="0"/>
              </a:spcBef>
              <a:spcAft>
                <a:spcPts val="600"/>
              </a:spcAft>
              <a:defRPr sz="2000" b="0">
                <a:solidFill>
                  <a:srgbClr val="A8BAC6"/>
                </a:solidFill>
                <a:latin typeface="Arial"/>
              </a:defRPr>
            </a:pPr>
            <a:r>
              <a:t>Приватные аналитические файлы</a:t>
            </a:r>
          </a:p>
          <a:p>
            <a:pPr>
              <a:spcBef>
                <a:spcPts val="0"/>
              </a:spcBef>
              <a:spcAft>
                <a:spcPts val="600"/>
              </a:spcAft>
              <a:defRPr sz="2000" b="0">
                <a:solidFill>
                  <a:srgbClr val="A8BAC6"/>
                </a:solidFill>
                <a:latin typeface="Arial"/>
              </a:defRPr>
            </a:pPr>
            <a:r>
              <a:t>Постоянный том Docker</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Python / SQLAlchemy / React / TypeScript. SQLite и один worker — граница текущего MVP.</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06 / 12</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Family Guard и данные</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Банковские события доступны без загрузки файла</a:t>
            </a:r>
          </a:p>
        </p:txBody>
      </p:sp>
      <p:sp>
        <p:nvSpPr>
          <p:cNvPr id="4" name="TextBox 3"/>
          <p:cNvSpPr txBox="1"/>
          <p:nvPr/>
        </p:nvSpPr>
        <p:spPr>
          <a:xfrm>
            <a:off x="749808" y="2395728"/>
            <a:ext cx="3209544" cy="731520"/>
          </a:xfrm>
          <a:prstGeom prst="rect">
            <a:avLst/>
          </a:prstGeom>
          <a:noFill/>
        </p:spPr>
        <p:txBody>
          <a:bodyPr wrap="square" lIns="0" rIns="0" tIns="0" bIns="0">
            <a:spAutoFit/>
          </a:bodyPr>
          <a:lstStyle/>
          <a:p>
            <a:pPr>
              <a:spcBef>
                <a:spcPts val="0"/>
              </a:spcBef>
              <a:spcAft>
                <a:spcPts val="600"/>
              </a:spcAft>
              <a:defRPr sz="2100" b="1">
                <a:solidFill>
                  <a:srgbClr val="087F6B"/>
                </a:solidFill>
                <a:latin typeface="Arial"/>
              </a:defRPr>
            </a:pPr>
            <a:r>
              <a:t>События банка</a:t>
            </a:r>
          </a:p>
        </p:txBody>
      </p:sp>
      <p:sp>
        <p:nvSpPr>
          <p:cNvPr id="5" name="TextBox 4"/>
          <p:cNvSpPr txBox="1"/>
          <p:nvPr/>
        </p:nvSpPr>
        <p:spPr>
          <a:xfrm>
            <a:off x="4434840" y="2395728"/>
            <a:ext cx="6949440" cy="850392"/>
          </a:xfrm>
          <a:prstGeom prst="rect">
            <a:avLst/>
          </a:prstGeom>
          <a:noFill/>
        </p:spPr>
        <p:txBody>
          <a:bodyPr wrap="square" lIns="0" rIns="0" tIns="0" bIns="0">
            <a:spAutoFit/>
          </a:bodyPr>
          <a:lstStyle/>
          <a:p>
            <a:pPr>
              <a:spcBef>
                <a:spcPts val="0"/>
              </a:spcBef>
              <a:spcAft>
                <a:spcPts val="600"/>
              </a:spcAft>
              <a:defRPr sz="2000" b="0">
                <a:solidFill>
                  <a:srgbClr val="122936"/>
                </a:solidFill>
                <a:latin typeface="Arial"/>
              </a:defRPr>
            </a:pPr>
            <a:r>
              <a:t>Очередь согласований, причины риска и аудит решения</a:t>
            </a:r>
          </a:p>
        </p:txBody>
      </p:sp>
      <p:sp>
        <p:nvSpPr>
          <p:cNvPr id="6" name="TextBox 5"/>
          <p:cNvSpPr txBox="1"/>
          <p:nvPr/>
        </p:nvSpPr>
        <p:spPr>
          <a:xfrm>
            <a:off x="749808" y="3483864"/>
            <a:ext cx="3209544" cy="731520"/>
          </a:xfrm>
          <a:prstGeom prst="rect">
            <a:avLst/>
          </a:prstGeom>
          <a:noFill/>
        </p:spPr>
        <p:txBody>
          <a:bodyPr wrap="square" lIns="0" rIns="0" tIns="0" bIns="0">
            <a:spAutoFit/>
          </a:bodyPr>
          <a:lstStyle/>
          <a:p>
            <a:pPr>
              <a:spcBef>
                <a:spcPts val="0"/>
              </a:spcBef>
              <a:spcAft>
                <a:spcPts val="600"/>
              </a:spcAft>
              <a:defRPr sz="2100" b="1">
                <a:solidFill>
                  <a:srgbClr val="087F6B"/>
                </a:solidFill>
                <a:latin typeface="Arial"/>
              </a:defRPr>
            </a:pPr>
            <a:r>
              <a:t>Мониторинг получателей</a:t>
            </a:r>
          </a:p>
        </p:txBody>
      </p:sp>
      <p:sp>
        <p:nvSpPr>
          <p:cNvPr id="7" name="TextBox 6"/>
          <p:cNvSpPr txBox="1"/>
          <p:nvPr/>
        </p:nvSpPr>
        <p:spPr>
          <a:xfrm>
            <a:off x="4434840" y="3483864"/>
            <a:ext cx="6949440" cy="850392"/>
          </a:xfrm>
          <a:prstGeom prst="rect">
            <a:avLst/>
          </a:prstGeom>
          <a:noFill/>
        </p:spPr>
        <p:txBody>
          <a:bodyPr wrap="square" lIns="0" rIns="0" tIns="0" bIns="0">
            <a:spAutoFit/>
          </a:bodyPr>
          <a:lstStyle/>
          <a:p>
            <a:pPr>
              <a:spcBef>
                <a:spcPts val="0"/>
              </a:spcBef>
              <a:spcAft>
                <a:spcPts val="600"/>
              </a:spcAft>
              <a:defRPr sz="2000" b="0">
                <a:solidFill>
                  <a:srgbClr val="122936"/>
                </a:solidFill>
                <a:latin typeface="Arial"/>
              </a:defRPr>
            </a:pPr>
            <a:r>
              <a:t>12 небольших переводов от 12 новых отправителей</a:t>
            </a:r>
          </a:p>
          <a:p>
            <a:pPr>
              <a:spcBef>
                <a:spcPts val="0"/>
              </a:spcBef>
              <a:spcAft>
                <a:spcPts val="600"/>
              </a:spcAft>
              <a:defRPr sz="2000" b="0">
                <a:solidFill>
                  <a:srgbClr val="122936"/>
                </a:solidFill>
                <a:latin typeface="Arial"/>
              </a:defRPr>
            </a:pPr>
            <a:r>
              <a:t>51 500 ₸ в синтетическом примере</a:t>
            </a:r>
          </a:p>
        </p:txBody>
      </p:sp>
      <p:sp>
        <p:nvSpPr>
          <p:cNvPr id="8" name="TextBox 7"/>
          <p:cNvSpPr txBox="1"/>
          <p:nvPr/>
        </p:nvSpPr>
        <p:spPr>
          <a:xfrm>
            <a:off x="749808" y="4572000"/>
            <a:ext cx="3209544" cy="731520"/>
          </a:xfrm>
          <a:prstGeom prst="rect">
            <a:avLst/>
          </a:prstGeom>
          <a:noFill/>
        </p:spPr>
        <p:txBody>
          <a:bodyPr wrap="square" lIns="0" rIns="0" tIns="0" bIns="0">
            <a:spAutoFit/>
          </a:bodyPr>
          <a:lstStyle/>
          <a:p>
            <a:pPr>
              <a:spcBef>
                <a:spcPts val="0"/>
              </a:spcBef>
              <a:spcAft>
                <a:spcPts val="600"/>
              </a:spcAft>
              <a:defRPr sz="2100" b="1">
                <a:solidFill>
                  <a:srgbClr val="087F6B"/>
                </a:solidFill>
                <a:latin typeface="Arial"/>
              </a:defRPr>
            </a:pPr>
            <a:r>
              <a:t>Импорт и расследование</a:t>
            </a:r>
          </a:p>
        </p:txBody>
      </p:sp>
      <p:sp>
        <p:nvSpPr>
          <p:cNvPr id="9" name="TextBox 8"/>
          <p:cNvSpPr txBox="1"/>
          <p:nvPr/>
        </p:nvSpPr>
        <p:spPr>
          <a:xfrm>
            <a:off x="4434840" y="4572000"/>
            <a:ext cx="6949440" cy="850392"/>
          </a:xfrm>
          <a:prstGeom prst="rect">
            <a:avLst/>
          </a:prstGeom>
          <a:noFill/>
        </p:spPr>
        <p:txBody>
          <a:bodyPr wrap="square" lIns="0" rIns="0" tIns="0" bIns="0">
            <a:spAutoFit/>
          </a:bodyPr>
          <a:lstStyle/>
          <a:p>
            <a:pPr>
              <a:spcBef>
                <a:spcPts val="0"/>
              </a:spcBef>
              <a:spcAft>
                <a:spcPts val="600"/>
              </a:spcAft>
              <a:defRPr sz="2000" b="0">
                <a:solidFill>
                  <a:srgbClr val="122936"/>
                </a:solidFill>
                <a:latin typeface="Arial"/>
              </a:defRPr>
            </a:pPr>
            <a:r>
              <a:t>7 операций для быстрого анализа</a:t>
            </a:r>
          </a:p>
          <a:p>
            <a:pPr>
              <a:spcBef>
                <a:spcPts val="0"/>
              </a:spcBef>
              <a:spcAft>
                <a:spcPts val="600"/>
              </a:spcAft>
              <a:defRPr sz="2000" b="0">
                <a:solidFill>
                  <a:srgbClr val="122936"/>
                </a:solidFill>
                <a:latin typeface="Arial"/>
              </a:defRPr>
            </a:pPr>
            <a:r>
              <a:t>100 000 строк MoMTSim v2 для расширенного показа</a:t>
            </a:r>
          </a:p>
        </p:txBody>
      </p:sp>
      <p:sp>
        <p:nvSpPr>
          <p:cNvPr id="10" name="TextBox 9"/>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Мониторинг: 60 минут, ≥10 переводов до 10 000 KZT, ≥8 новых отправителей, доля новых ≥80%.</a:t>
            </a:r>
          </a:p>
        </p:txBody>
      </p:sp>
      <p:sp>
        <p:nvSpPr>
          <p:cNvPr id="11" name="TextBox 10"/>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07 / 12</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Проверки и метрики</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Подтверждённые функциональные проверки 15 октября 2026</a:t>
            </a:r>
          </a:p>
        </p:txBody>
      </p:sp>
      <p:sp>
        <p:nvSpPr>
          <p:cNvPr id="4" name="TextBox 3"/>
          <p:cNvSpPr txBox="1"/>
          <p:nvPr/>
        </p:nvSpPr>
        <p:spPr>
          <a:xfrm>
            <a:off x="731520" y="2532888"/>
            <a:ext cx="3401568" cy="1143000"/>
          </a:xfrm>
          <a:prstGeom prst="rect">
            <a:avLst/>
          </a:prstGeom>
          <a:noFill/>
        </p:spPr>
        <p:txBody>
          <a:bodyPr wrap="square" lIns="0" rIns="0" tIns="0" bIns="0">
            <a:spAutoFit/>
          </a:bodyPr>
          <a:lstStyle/>
          <a:p>
            <a:pPr>
              <a:spcBef>
                <a:spcPts val="0"/>
              </a:spcBef>
              <a:spcAft>
                <a:spcPts val="600"/>
              </a:spcAft>
              <a:defRPr sz="6400" b="1">
                <a:solidFill>
                  <a:srgbClr val="087F6B"/>
                </a:solidFill>
                <a:latin typeface="Arial"/>
              </a:defRPr>
            </a:pPr>
            <a:r>
              <a:t>379</a:t>
            </a:r>
          </a:p>
        </p:txBody>
      </p:sp>
      <p:sp>
        <p:nvSpPr>
          <p:cNvPr id="5" name="TextBox 4"/>
          <p:cNvSpPr txBox="1"/>
          <p:nvPr/>
        </p:nvSpPr>
        <p:spPr>
          <a:xfrm>
            <a:off x="731520" y="3849624"/>
            <a:ext cx="3273552" cy="1417320"/>
          </a:xfrm>
          <a:prstGeom prst="rect">
            <a:avLst/>
          </a:prstGeom>
          <a:noFill/>
        </p:spPr>
        <p:txBody>
          <a:bodyPr wrap="square" lIns="0" rIns="0" tIns="0" bIns="0">
            <a:spAutoFit/>
          </a:bodyPr>
          <a:lstStyle/>
          <a:p>
            <a:pPr>
              <a:spcBef>
                <a:spcPts val="0"/>
              </a:spcBef>
              <a:spcAft>
                <a:spcPts val="600"/>
              </a:spcAft>
              <a:defRPr sz="2200" b="0">
                <a:solidFill>
                  <a:srgbClr val="122936"/>
                </a:solidFill>
                <a:latin typeface="Arial"/>
              </a:defRPr>
            </a:pPr>
            <a:r>
              <a:t>Backend-тестов прошли после ребрендинга</a:t>
            </a:r>
          </a:p>
        </p:txBody>
      </p:sp>
      <p:sp>
        <p:nvSpPr>
          <p:cNvPr id="6" name="TextBox 5"/>
          <p:cNvSpPr txBox="1"/>
          <p:nvPr/>
        </p:nvSpPr>
        <p:spPr>
          <a:xfrm>
            <a:off x="4553712" y="2532888"/>
            <a:ext cx="3401568" cy="1143000"/>
          </a:xfrm>
          <a:prstGeom prst="rect">
            <a:avLst/>
          </a:prstGeom>
          <a:noFill/>
        </p:spPr>
        <p:txBody>
          <a:bodyPr wrap="square" lIns="0" rIns="0" tIns="0" bIns="0">
            <a:spAutoFit/>
          </a:bodyPr>
          <a:lstStyle/>
          <a:p>
            <a:pPr>
              <a:spcBef>
                <a:spcPts val="0"/>
              </a:spcBef>
              <a:spcAft>
                <a:spcPts val="600"/>
              </a:spcAft>
              <a:defRPr sz="6400" b="1">
                <a:solidFill>
                  <a:srgbClr val="087F6B"/>
                </a:solidFill>
                <a:latin typeface="Arial"/>
              </a:defRPr>
            </a:pPr>
            <a:r>
              <a:t>70</a:t>
            </a:r>
          </a:p>
        </p:txBody>
      </p:sp>
      <p:sp>
        <p:nvSpPr>
          <p:cNvPr id="7" name="TextBox 6"/>
          <p:cNvSpPr txBox="1"/>
          <p:nvPr/>
        </p:nvSpPr>
        <p:spPr>
          <a:xfrm>
            <a:off x="4553712" y="3849624"/>
            <a:ext cx="3273552" cy="1417320"/>
          </a:xfrm>
          <a:prstGeom prst="rect">
            <a:avLst/>
          </a:prstGeom>
          <a:noFill/>
        </p:spPr>
        <p:txBody>
          <a:bodyPr wrap="square" lIns="0" rIns="0" tIns="0" bIns="0">
            <a:spAutoFit/>
          </a:bodyPr>
          <a:lstStyle/>
          <a:p>
            <a:pPr>
              <a:spcBef>
                <a:spcPts val="0"/>
              </a:spcBef>
              <a:spcAft>
                <a:spcPts val="600"/>
              </a:spcAft>
              <a:defRPr sz="2200" b="0">
                <a:solidFill>
                  <a:srgbClr val="122936"/>
                </a:solidFill>
                <a:latin typeface="Arial"/>
              </a:defRPr>
            </a:pPr>
            <a:r>
              <a:t>Frontend-тестов прошли. Lint и сборка успешны</a:t>
            </a:r>
          </a:p>
        </p:txBody>
      </p:sp>
      <p:sp>
        <p:nvSpPr>
          <p:cNvPr id="8" name="TextBox 7"/>
          <p:cNvSpPr txBox="1"/>
          <p:nvPr/>
        </p:nvSpPr>
        <p:spPr>
          <a:xfrm>
            <a:off x="8375904" y="2532888"/>
            <a:ext cx="3401568" cy="1143000"/>
          </a:xfrm>
          <a:prstGeom prst="rect">
            <a:avLst/>
          </a:prstGeom>
          <a:noFill/>
        </p:spPr>
        <p:txBody>
          <a:bodyPr wrap="square" lIns="0" rIns="0" tIns="0" bIns="0">
            <a:spAutoFit/>
          </a:bodyPr>
          <a:lstStyle/>
          <a:p>
            <a:pPr>
              <a:spcBef>
                <a:spcPts val="0"/>
              </a:spcBef>
              <a:spcAft>
                <a:spcPts val="600"/>
              </a:spcAft>
              <a:defRPr sz="6400" b="1">
                <a:solidFill>
                  <a:srgbClr val="087F6B"/>
                </a:solidFill>
                <a:latin typeface="Arial"/>
              </a:defRPr>
            </a:pPr>
            <a:r>
              <a:t>7</a:t>
            </a:r>
          </a:p>
        </p:txBody>
      </p:sp>
      <p:sp>
        <p:nvSpPr>
          <p:cNvPr id="9" name="TextBox 8"/>
          <p:cNvSpPr txBox="1"/>
          <p:nvPr/>
        </p:nvSpPr>
        <p:spPr>
          <a:xfrm>
            <a:off x="8375904" y="3849624"/>
            <a:ext cx="3273552" cy="1417320"/>
          </a:xfrm>
          <a:prstGeom prst="rect">
            <a:avLst/>
          </a:prstGeom>
          <a:noFill/>
        </p:spPr>
        <p:txBody>
          <a:bodyPr wrap="square" lIns="0" rIns="0" tIns="0" bIns="0">
            <a:spAutoFit/>
          </a:bodyPr>
          <a:lstStyle/>
          <a:p>
            <a:pPr>
              <a:spcBef>
                <a:spcPts val="0"/>
              </a:spcBef>
              <a:spcAft>
                <a:spcPts val="600"/>
              </a:spcAft>
              <a:defRPr sz="2200" b="0">
                <a:solidFill>
                  <a:srgbClr val="122936"/>
                </a:solidFill>
                <a:latin typeface="Arial"/>
              </a:defRPr>
            </a:pPr>
            <a:r>
              <a:t>Backend-проверок пропущены: optional ML и исходный Compose</a:t>
            </a:r>
          </a:p>
        </p:txBody>
      </p:sp>
      <p:sp>
        <p:nvSpPr>
          <p:cNvPr id="10" name="TextBox 9"/>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Precision, recall и F1 пока не измерены. Следующий этап — временной holdout, confusion matrix и ложные тревоги.</a:t>
            </a:r>
          </a:p>
        </p:txBody>
      </p:sp>
      <p:sp>
        <p:nvSpPr>
          <p:cNvPr id="11" name="TextBox 10"/>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08 / 12</a:t>
            </a:r>
          </a:p>
        </p:txBody>
      </p:sp>
    </p:spTree>
  </p:cSld>
  <p:clrMapOvr>
    <a:masterClrMapping/>
  </p:clrMapOvr>
  <p:transition spd="med"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Сквозной тест перевода</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Конфликт голосов завершает сотрудник банка</a:t>
            </a:r>
          </a:p>
        </p:txBody>
      </p:sp>
      <p:sp>
        <p:nvSpPr>
          <p:cNvPr id="4" name="TextBox 3"/>
          <p:cNvSpPr txBox="1"/>
          <p:nvPr/>
        </p:nvSpPr>
        <p:spPr>
          <a:xfrm>
            <a:off x="731520"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01</a:t>
            </a:r>
          </a:p>
        </p:txBody>
      </p:sp>
      <p:sp>
        <p:nvSpPr>
          <p:cNvPr id="5" name="TextBox 4"/>
          <p:cNvSpPr txBox="1"/>
          <p:nvPr/>
        </p:nvSpPr>
        <p:spPr>
          <a:xfrm>
            <a:off x="731520"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Создание заявки</a:t>
            </a:r>
          </a:p>
        </p:txBody>
      </p:sp>
      <p:sp>
        <p:nvSpPr>
          <p:cNvPr id="6" name="TextBox 5"/>
          <p:cNvSpPr txBox="1"/>
          <p:nvPr/>
        </p:nvSpPr>
        <p:spPr>
          <a:xfrm>
            <a:off x="731520"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Амина с включённой защитой переводит 85% баланса Айдане</a:t>
            </a:r>
          </a:p>
        </p:txBody>
      </p:sp>
      <p:sp>
        <p:nvSpPr>
          <p:cNvPr id="7" name="TextBox 6"/>
          <p:cNvSpPr txBox="1"/>
          <p:nvPr/>
        </p:nvSpPr>
        <p:spPr>
          <a:xfrm>
            <a:off x="4553712"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02</a:t>
            </a:r>
          </a:p>
        </p:txBody>
      </p:sp>
      <p:sp>
        <p:nvSpPr>
          <p:cNvPr id="8" name="TextBox 7"/>
          <p:cNvSpPr txBox="1"/>
          <p:nvPr/>
        </p:nvSpPr>
        <p:spPr>
          <a:xfrm>
            <a:off x="4553712"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Семейное решение</a:t>
            </a:r>
          </a:p>
        </p:txBody>
      </p:sp>
      <p:sp>
        <p:nvSpPr>
          <p:cNvPr id="9" name="TextBox 8"/>
          <p:cNvSpPr txBox="1"/>
          <p:nvPr/>
        </p:nvSpPr>
        <p:spPr>
          <a:xfrm>
            <a:off x="4553712"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Марат одобряет, Сауле отклоняет. Балансы ещё не меняются</a:t>
            </a:r>
          </a:p>
        </p:txBody>
      </p:sp>
      <p:sp>
        <p:nvSpPr>
          <p:cNvPr id="10" name="TextBox 9"/>
          <p:cNvSpPr txBox="1"/>
          <p:nvPr/>
        </p:nvSpPr>
        <p:spPr>
          <a:xfrm>
            <a:off x="8375904" y="2331720"/>
            <a:ext cx="1828800" cy="640080"/>
          </a:xfrm>
          <a:prstGeom prst="rect">
            <a:avLst/>
          </a:prstGeom>
          <a:noFill/>
        </p:spPr>
        <p:txBody>
          <a:bodyPr wrap="square" lIns="0" rIns="0" tIns="0" bIns="0">
            <a:spAutoFit/>
          </a:bodyPr>
          <a:lstStyle/>
          <a:p>
            <a:pPr>
              <a:spcBef>
                <a:spcPts val="0"/>
              </a:spcBef>
              <a:spcAft>
                <a:spcPts val="600"/>
              </a:spcAft>
              <a:defRPr sz="3600" b="1">
                <a:solidFill>
                  <a:srgbClr val="45D6B4"/>
                </a:solidFill>
                <a:latin typeface="Arial"/>
              </a:defRPr>
            </a:pPr>
            <a:r>
              <a:t>03</a:t>
            </a:r>
          </a:p>
        </p:txBody>
      </p:sp>
      <p:sp>
        <p:nvSpPr>
          <p:cNvPr id="11" name="TextBox 10"/>
          <p:cNvSpPr txBox="1"/>
          <p:nvPr/>
        </p:nvSpPr>
        <p:spPr>
          <a:xfrm>
            <a:off x="8375904" y="3127248"/>
            <a:ext cx="3310128" cy="868680"/>
          </a:xfrm>
          <a:prstGeom prst="rect">
            <a:avLst/>
          </a:prstGeom>
          <a:noFill/>
        </p:spPr>
        <p:txBody>
          <a:bodyPr wrap="square" lIns="0" rIns="0" tIns="0" bIns="0">
            <a:spAutoFit/>
          </a:bodyPr>
          <a:lstStyle/>
          <a:p>
            <a:pPr>
              <a:spcBef>
                <a:spcPts val="0"/>
              </a:spcBef>
              <a:spcAft>
                <a:spcPts val="600"/>
              </a:spcAft>
              <a:defRPr sz="2300" b="1">
                <a:solidFill>
                  <a:srgbClr val="F4F7F8"/>
                </a:solidFill>
                <a:latin typeface="Arial"/>
              </a:defRPr>
            </a:pPr>
            <a:r>
              <a:t>Банковское решение</a:t>
            </a:r>
          </a:p>
        </p:txBody>
      </p:sp>
      <p:sp>
        <p:nvSpPr>
          <p:cNvPr id="12" name="TextBox 11"/>
          <p:cNvSpPr txBox="1"/>
          <p:nvPr/>
        </p:nvSpPr>
        <p:spPr>
          <a:xfrm>
            <a:off x="8375904" y="4123944"/>
            <a:ext cx="3273552" cy="1527048"/>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Сотрудник фиксирует основание. Один дебет, один кредит и аудит</a:t>
            </a:r>
          </a:p>
        </p:txBody>
      </p:sp>
      <p:sp>
        <p:nvSpPr>
          <p:cNvPr id="13" name="TextBox 12"/>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Повтор команды сохраняет одно исполнение. Деньги — целые тиыны, проводки и журнал атомарны.</a:t>
            </a:r>
          </a:p>
        </p:txBody>
      </p:sp>
      <p:sp>
        <p:nvSpPr>
          <p:cNvPr id="14" name="TextBox 13"/>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09 / 12</a:t>
            </a:r>
          </a:p>
        </p:txBody>
      </p:sp>
    </p:spTree>
  </p:cSld>
  <p:clrMapOvr>
    <a:masterClrMapping/>
  </p:clrMapOvr>
  <p:transition spd="med"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Готовность и риски</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TRL 4 как предварительная самооценка команды</a:t>
            </a:r>
          </a:p>
        </p:txBody>
      </p:sp>
      <p:sp>
        <p:nvSpPr>
          <p:cNvPr id="4" name="TextBox 3"/>
          <p:cNvSpPr txBox="1"/>
          <p:nvPr/>
        </p:nvSpPr>
        <p:spPr>
          <a:xfrm>
            <a:off x="731520"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Ложные тревоги</a:t>
            </a:r>
          </a:p>
        </p:txBody>
      </p:sp>
      <p:sp>
        <p:nvSpPr>
          <p:cNvPr id="5" name="TextBox 4"/>
          <p:cNvSpPr txBox="1"/>
          <p:nvPr/>
        </p:nvSpPr>
        <p:spPr>
          <a:xfrm>
            <a:off x="731520"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Валидация порогов и измерение качества до банковского пилота</a:t>
            </a:r>
          </a:p>
        </p:txBody>
      </p:sp>
      <p:sp>
        <p:nvSpPr>
          <p:cNvPr id="6" name="TextBox 5"/>
          <p:cNvSpPr txBox="1"/>
          <p:nvPr/>
        </p:nvSpPr>
        <p:spPr>
          <a:xfrm>
            <a:off x="6473952" y="2359152"/>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Родственник недоступен</a:t>
            </a:r>
          </a:p>
        </p:txBody>
      </p:sp>
      <p:sp>
        <p:nvSpPr>
          <p:cNvPr id="7" name="TextBox 6"/>
          <p:cNvSpPr txBox="1"/>
          <p:nvPr/>
        </p:nvSpPr>
        <p:spPr>
          <a:xfrm>
            <a:off x="6473952" y="3044952"/>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Явное ожидание и срок заявки. Без автоматического списания</a:t>
            </a:r>
          </a:p>
        </p:txBody>
      </p:sp>
      <p:sp>
        <p:nvSpPr>
          <p:cNvPr id="8" name="TextBox 7"/>
          <p:cNvSpPr txBox="1"/>
          <p:nvPr/>
        </p:nvSpPr>
        <p:spPr>
          <a:xfrm>
            <a:off x="731520"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Компрометация аккаунта</a:t>
            </a:r>
          </a:p>
        </p:txBody>
      </p:sp>
      <p:sp>
        <p:nvSpPr>
          <p:cNvPr id="9" name="TextBox 8"/>
          <p:cNvSpPr txBox="1"/>
          <p:nvPr/>
        </p:nvSpPr>
        <p:spPr>
          <a:xfrm>
            <a:off x="731520"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Серверные права и аудит. Усиление идентификации — задача пилота</a:t>
            </a:r>
          </a:p>
        </p:txBody>
      </p:sp>
      <p:sp>
        <p:nvSpPr>
          <p:cNvPr id="10" name="TextBox 9"/>
          <p:cNvSpPr txBox="1"/>
          <p:nvPr/>
        </p:nvSpPr>
        <p:spPr>
          <a:xfrm>
            <a:off x="6473952" y="4014216"/>
            <a:ext cx="5084064" cy="585216"/>
          </a:xfrm>
          <a:prstGeom prst="rect">
            <a:avLst/>
          </a:prstGeom>
          <a:noFill/>
        </p:spPr>
        <p:txBody>
          <a:bodyPr wrap="square" lIns="0" rIns="0" tIns="0" bIns="0">
            <a:spAutoFit/>
          </a:bodyPr>
          <a:lstStyle/>
          <a:p>
            <a:pPr>
              <a:spcBef>
                <a:spcPts val="0"/>
              </a:spcBef>
              <a:spcAft>
                <a:spcPts val="600"/>
              </a:spcAft>
              <a:defRPr sz="2300" b="1">
                <a:solidFill>
                  <a:srgbClr val="45D6B4"/>
                </a:solidFill>
                <a:latin typeface="Arial"/>
              </a:defRPr>
            </a:pPr>
            <a:r>
              <a:t>Нагрузка и интеграции</a:t>
            </a:r>
          </a:p>
        </p:txBody>
      </p:sp>
      <p:sp>
        <p:nvSpPr>
          <p:cNvPr id="11" name="TextBox 10"/>
          <p:cNvSpPr txBox="1"/>
          <p:nvPr/>
        </p:nvSpPr>
        <p:spPr>
          <a:xfrm>
            <a:off x="6473952" y="4700016"/>
            <a:ext cx="5084064" cy="850392"/>
          </a:xfrm>
          <a:prstGeom prst="rect">
            <a:avLst/>
          </a:prstGeom>
          <a:noFill/>
        </p:spPr>
        <p:txBody>
          <a:bodyPr wrap="square" lIns="0" rIns="0" tIns="0" bIns="0">
            <a:spAutoFit/>
          </a:bodyPr>
          <a:lstStyle/>
          <a:p>
            <a:pPr>
              <a:spcBef>
                <a:spcPts val="0"/>
              </a:spcBef>
              <a:spcAft>
                <a:spcPts val="600"/>
              </a:spcAft>
              <a:defRPr sz="1900" b="0">
                <a:solidFill>
                  <a:srgbClr val="F4F7F8"/>
                </a:solidFill>
                <a:latin typeface="Arial"/>
              </a:defRPr>
            </a:pPr>
            <a:r>
              <a:t>Один worker и SQLite. Реальные платежи и eGov пока имитируются</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t>Интегрированный прототип проверен локально. Реальный банковский пилот и публичный URL пока отсутствуют.</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10 / 12</a:t>
            </a:r>
          </a:p>
        </p:txBody>
      </p:sp>
    </p:spTree>
  </p:cSld>
  <p:clrMapOvr>
    <a:masterClrMapping/>
  </p:clrMapOvr>
  <p:transition spd="med"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122936"/>
                </a:solidFill>
                <a:latin typeface="Arial"/>
              </a:defRPr>
            </a:pPr>
            <a:r>
              <a:t>План внедрения и ресурсы</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4B6575"/>
                </a:solidFill>
                <a:latin typeface="Arial"/>
              </a:defRPr>
            </a:pPr>
            <a:r>
              <a:t>От конкурсного демо к согласованному банковскому стенду</a:t>
            </a:r>
          </a:p>
        </p:txBody>
      </p:sp>
      <p:sp>
        <p:nvSpPr>
          <p:cNvPr id="4" name="TextBox 3"/>
          <p:cNvSpPr txBox="1"/>
          <p:nvPr/>
        </p:nvSpPr>
        <p:spPr>
          <a:xfrm>
            <a:off x="749808" y="2377440"/>
            <a:ext cx="2798064" cy="612648"/>
          </a:xfrm>
          <a:prstGeom prst="rect">
            <a:avLst/>
          </a:prstGeom>
          <a:noFill/>
        </p:spPr>
        <p:txBody>
          <a:bodyPr wrap="square" lIns="0" rIns="0" tIns="0" bIns="0">
            <a:spAutoFit/>
          </a:bodyPr>
          <a:lstStyle/>
          <a:p>
            <a:pPr>
              <a:spcBef>
                <a:spcPts val="0"/>
              </a:spcBef>
              <a:spcAft>
                <a:spcPts val="600"/>
              </a:spcAft>
              <a:defRPr sz="1900" b="1">
                <a:solidFill>
                  <a:srgbClr val="122936"/>
                </a:solidFill>
                <a:latin typeface="Arial"/>
              </a:defRPr>
            </a:pPr>
            <a:r>
              <a:t>Октябрь–ноябрь 2026</a:t>
            </a:r>
          </a:p>
        </p:txBody>
      </p:sp>
      <p:sp>
        <p:nvSpPr>
          <p:cNvPr id="5" name="TextBox 4"/>
          <p:cNvSpPr txBox="1"/>
          <p:nvPr/>
        </p:nvSpPr>
        <p:spPr>
          <a:xfrm>
            <a:off x="3639312" y="2377440"/>
            <a:ext cx="3639312" cy="822960"/>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Публичное демо, проверка HTTPS, репетиция и конкурсный комплект</a:t>
            </a:r>
          </a:p>
        </p:txBody>
      </p:sp>
      <p:sp>
        <p:nvSpPr>
          <p:cNvPr id="6" name="TextBox 5"/>
          <p:cNvSpPr txBox="1"/>
          <p:nvPr/>
        </p:nvSpPr>
        <p:spPr>
          <a:xfrm>
            <a:off x="749808" y="3383280"/>
            <a:ext cx="2798064" cy="612648"/>
          </a:xfrm>
          <a:prstGeom prst="rect">
            <a:avLst/>
          </a:prstGeom>
          <a:noFill/>
        </p:spPr>
        <p:txBody>
          <a:bodyPr wrap="square" lIns="0" rIns="0" tIns="0" bIns="0">
            <a:spAutoFit/>
          </a:bodyPr>
          <a:lstStyle/>
          <a:p>
            <a:pPr>
              <a:spcBef>
                <a:spcPts val="0"/>
              </a:spcBef>
              <a:spcAft>
                <a:spcPts val="600"/>
              </a:spcAft>
              <a:defRPr sz="1900" b="1">
                <a:solidFill>
                  <a:srgbClr val="122936"/>
                </a:solidFill>
                <a:latin typeface="Arial"/>
              </a:defRPr>
            </a:pPr>
            <a:r>
              <a:t>Этап пилота 1</a:t>
            </a:r>
          </a:p>
        </p:txBody>
      </p:sp>
      <p:sp>
        <p:nvSpPr>
          <p:cNvPr id="7" name="TextBox 6"/>
          <p:cNvSpPr txBox="1"/>
          <p:nvPr/>
        </p:nvSpPr>
        <p:spPr>
          <a:xfrm>
            <a:off x="3639312" y="3383280"/>
            <a:ext cx="3639312" cy="822960"/>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Данные с лицензией, временная оценка правил и пользовательские испытания</a:t>
            </a:r>
          </a:p>
        </p:txBody>
      </p:sp>
      <p:sp>
        <p:nvSpPr>
          <p:cNvPr id="8" name="TextBox 7"/>
          <p:cNvSpPr txBox="1"/>
          <p:nvPr/>
        </p:nvSpPr>
        <p:spPr>
          <a:xfrm>
            <a:off x="749808" y="4389120"/>
            <a:ext cx="2798064" cy="612648"/>
          </a:xfrm>
          <a:prstGeom prst="rect">
            <a:avLst/>
          </a:prstGeom>
          <a:noFill/>
        </p:spPr>
        <p:txBody>
          <a:bodyPr wrap="square" lIns="0" rIns="0" tIns="0" bIns="0">
            <a:spAutoFit/>
          </a:bodyPr>
          <a:lstStyle/>
          <a:p>
            <a:pPr>
              <a:spcBef>
                <a:spcPts val="0"/>
              </a:spcBef>
              <a:spcAft>
                <a:spcPts val="600"/>
              </a:spcAft>
              <a:defRPr sz="1900" b="1">
                <a:solidFill>
                  <a:srgbClr val="122936"/>
                </a:solidFill>
                <a:latin typeface="Arial"/>
              </a:defRPr>
            </a:pPr>
            <a:r>
              <a:t>Этап пилота 2</a:t>
            </a:r>
          </a:p>
        </p:txBody>
      </p:sp>
      <p:sp>
        <p:nvSpPr>
          <p:cNvPr id="9" name="TextBox 8"/>
          <p:cNvSpPr txBox="1"/>
          <p:nvPr/>
        </p:nvSpPr>
        <p:spPr>
          <a:xfrm>
            <a:off x="3639312" y="4389120"/>
            <a:ext cx="3639312" cy="822960"/>
          </a:xfrm>
          <a:prstGeom prst="rect">
            <a:avLst/>
          </a:prstGeom>
          <a:noFill/>
        </p:spPr>
        <p:txBody>
          <a:bodyPr wrap="square" lIns="0" rIns="0" tIns="0" bIns="0">
            <a:spAutoFit/>
          </a:bodyPr>
          <a:lstStyle/>
          <a:p>
            <a:pPr>
              <a:spcBef>
                <a:spcPts val="0"/>
              </a:spcBef>
              <a:spcAft>
                <a:spcPts val="600"/>
              </a:spcAft>
              <a:defRPr sz="1800" b="0">
                <a:solidFill>
                  <a:srgbClr val="4B6575"/>
                </a:solidFill>
                <a:latin typeface="Arial"/>
              </a:defRPr>
            </a:pPr>
            <a:r>
              <a:t>Sandbox банка, уведомления, нагрузка и процедуры восстановления</a:t>
            </a:r>
          </a:p>
        </p:txBody>
      </p:sp>
      <p:sp>
        <p:nvSpPr>
          <p:cNvPr id="10" name="TextBox 9"/>
          <p:cNvSpPr txBox="1"/>
          <p:nvPr/>
        </p:nvSpPr>
        <p:spPr>
          <a:xfrm>
            <a:off x="7882127" y="2514600"/>
            <a:ext cx="3749039" cy="1097280"/>
          </a:xfrm>
          <a:prstGeom prst="rect">
            <a:avLst/>
          </a:prstGeom>
          <a:noFill/>
        </p:spPr>
        <p:txBody>
          <a:bodyPr wrap="square" lIns="0" rIns="0" tIns="0" bIns="0">
            <a:spAutoFit/>
          </a:bodyPr>
          <a:lstStyle/>
          <a:p>
            <a:pPr>
              <a:spcBef>
                <a:spcPts val="0"/>
              </a:spcBef>
              <a:spcAft>
                <a:spcPts val="600"/>
              </a:spcAft>
              <a:defRPr sz="3200" b="1">
                <a:solidFill>
                  <a:srgbClr val="087F6B"/>
                </a:solidFill>
                <a:latin typeface="Arial"/>
              </a:defRPr>
            </a:pPr>
            <a:r>
              <a:t>$12 / месяц</a:t>
            </a:r>
          </a:p>
        </p:txBody>
      </p:sp>
      <p:sp>
        <p:nvSpPr>
          <p:cNvPr id="11" name="TextBox 10"/>
          <p:cNvSpPr txBox="1"/>
          <p:nvPr/>
        </p:nvSpPr>
        <p:spPr>
          <a:xfrm>
            <a:off x="7918704" y="3657600"/>
            <a:ext cx="3374136" cy="1554480"/>
          </a:xfrm>
          <a:prstGeom prst="rect">
            <a:avLst/>
          </a:prstGeom>
          <a:noFill/>
        </p:spPr>
        <p:txBody>
          <a:bodyPr wrap="square" lIns="0" rIns="0" tIns="0" bIns="0">
            <a:spAutoFit/>
          </a:bodyPr>
          <a:lstStyle/>
          <a:p>
            <a:pPr>
              <a:spcBef>
                <a:spcPts val="0"/>
              </a:spcBef>
              <a:spcAft>
                <a:spcPts val="600"/>
              </a:spcAft>
              <a:defRPr sz="2100" b="0">
                <a:solidFill>
                  <a:srgbClr val="122936"/>
                </a:solidFill>
                <a:latin typeface="Arial"/>
              </a:defRPr>
            </a:pPr>
            <a:r>
              <a:t>Предлагаемый VPS: 2 ГиБ RAM и 1 vCPU</a:t>
            </a:r>
          </a:p>
        </p:txBody>
      </p:sp>
      <p:sp>
        <p:nvSpPr>
          <p:cNvPr id="12" name="TextBox 11"/>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4B6575"/>
                </a:solidFill>
                <a:latin typeface="Arial"/>
              </a:defRPr>
            </a:pPr>
            <a:r>
              <a:t>Плановый сервер: $24 за два месяца по смете от 12 октября. Домен, услуги и труд оцениваются отдельно.</a:t>
            </a:r>
          </a:p>
        </p:txBody>
      </p:sp>
      <p:sp>
        <p:nvSpPr>
          <p:cNvPr id="13" name="TextBox 12"/>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4B6575"/>
                </a:solidFill>
                <a:latin typeface="Arial"/>
              </a:defRPr>
            </a:pPr>
            <a:r>
              <a:t>11 / 12</a:t>
            </a:r>
          </a:p>
        </p:txBody>
      </p:sp>
    </p:spTree>
  </p:cSld>
  <p:clrMapOvr>
    <a:masterClrMapping/>
  </p:clrMapOvr>
  <p:transition spd="med"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724"/>
        </a:solidFill>
        <a:effectLst/>
      </p:bgPr>
    </p:bg>
    <p:spTree>
      <p:nvGrpSpPr>
        <p:cNvPr id="1" name=""/>
        <p:cNvGrpSpPr/>
        <p:nvPr/>
      </p:nvGrpSpPr>
      <p:grpSpPr/>
      <p:sp>
        <p:nvSpPr>
          <p:cNvPr id="2" name="TextBox 1"/>
          <p:cNvSpPr txBox="1"/>
          <p:nvPr/>
        </p:nvSpPr>
        <p:spPr>
          <a:xfrm>
            <a:off x="713232" y="548640"/>
            <a:ext cx="10789920" cy="868680"/>
          </a:xfrm>
          <a:prstGeom prst="rect">
            <a:avLst/>
          </a:prstGeom>
          <a:noFill/>
        </p:spPr>
        <p:txBody>
          <a:bodyPr wrap="square" lIns="0" rIns="0" tIns="0" bIns="0">
            <a:spAutoFit/>
          </a:bodyPr>
          <a:lstStyle/>
          <a:p>
            <a:pPr>
              <a:spcBef>
                <a:spcPts val="0"/>
              </a:spcBef>
              <a:spcAft>
                <a:spcPts val="600"/>
              </a:spcAft>
              <a:defRPr sz="3400" b="1">
                <a:solidFill>
                  <a:srgbClr val="F4F7F8"/>
                </a:solidFill>
                <a:latin typeface="Arial"/>
              </a:defRPr>
            </a:pPr>
            <a:r>
              <a:t>Следующий шаг</a:t>
            </a:r>
          </a:p>
        </p:txBody>
      </p:sp>
      <p:sp>
        <p:nvSpPr>
          <p:cNvPr id="3" name="TextBox 2"/>
          <p:cNvSpPr txBox="1"/>
          <p:nvPr/>
        </p:nvSpPr>
        <p:spPr>
          <a:xfrm>
            <a:off x="731520" y="1517904"/>
            <a:ext cx="10698480" cy="603504"/>
          </a:xfrm>
          <a:prstGeom prst="rect">
            <a:avLst/>
          </a:prstGeom>
          <a:noFill/>
        </p:spPr>
        <p:txBody>
          <a:bodyPr wrap="square" lIns="0" rIns="0" tIns="0" bIns="0">
            <a:spAutoFit/>
          </a:bodyPr>
          <a:lstStyle/>
          <a:p>
            <a:pPr>
              <a:spcBef>
                <a:spcPts val="0"/>
              </a:spcBef>
              <a:spcAft>
                <a:spcPts val="600"/>
              </a:spcAft>
              <a:defRPr sz="2000" b="0">
                <a:solidFill>
                  <a:srgbClr val="A8BAC6"/>
                </a:solidFill>
                <a:latin typeface="Arial"/>
              </a:defRPr>
            </a:pPr>
            <a:r>
              <a:t>Партнёр для проверки на банковском sandbox</a:t>
            </a:r>
          </a:p>
        </p:txBody>
      </p:sp>
      <p:sp>
        <p:nvSpPr>
          <p:cNvPr id="4" name="TextBox 3"/>
          <p:cNvSpPr txBox="1"/>
          <p:nvPr/>
        </p:nvSpPr>
        <p:spPr>
          <a:xfrm>
            <a:off x="749808" y="2395728"/>
            <a:ext cx="3209544" cy="731520"/>
          </a:xfrm>
          <a:prstGeom prst="rect">
            <a:avLst/>
          </a:prstGeom>
          <a:noFill/>
        </p:spPr>
        <p:txBody>
          <a:bodyPr wrap="square" lIns="0" rIns="0" tIns="0" bIns="0">
            <a:spAutoFit/>
          </a:bodyPr>
          <a:lstStyle/>
          <a:p>
            <a:pPr>
              <a:spcBef>
                <a:spcPts val="0"/>
              </a:spcBef>
              <a:spcAft>
                <a:spcPts val="600"/>
              </a:spcAft>
              <a:defRPr sz="2100" b="1">
                <a:solidFill>
                  <a:srgbClr val="45D6B4"/>
                </a:solidFill>
                <a:latin typeface="Arial"/>
              </a:defRPr>
            </a:pPr>
            <a:r>
              <a:t>Что уже есть</a:t>
            </a:r>
          </a:p>
        </p:txBody>
      </p:sp>
      <p:sp>
        <p:nvSpPr>
          <p:cNvPr id="5" name="TextBox 4"/>
          <p:cNvSpPr txBox="1"/>
          <p:nvPr/>
        </p:nvSpPr>
        <p:spPr>
          <a:xfrm>
            <a:off x="4434840" y="2395728"/>
            <a:ext cx="6949440" cy="850392"/>
          </a:xfrm>
          <a:prstGeom prst="rect">
            <a:avLst/>
          </a:prstGeom>
          <a:noFill/>
        </p:spPr>
        <p:txBody>
          <a:bodyPr wrap="square" lIns="0" rIns="0" tIns="0" bIns="0">
            <a:spAutoFit/>
          </a:bodyPr>
          <a:lstStyle/>
          <a:p>
            <a:pPr>
              <a:spcBef>
                <a:spcPts val="0"/>
              </a:spcBef>
              <a:spcAft>
                <a:spcPts val="600"/>
              </a:spcAft>
              <a:defRPr sz="2000" b="0">
                <a:solidFill>
                  <a:srgbClr val="F4F7F8"/>
                </a:solidFill>
                <a:latin typeface="Arial"/>
              </a:defRPr>
            </a:pPr>
            <a:r>
              <a:t>Работающий MVP, исходники, инструкция и воспроизводимые проверки</a:t>
            </a:r>
          </a:p>
        </p:txBody>
      </p:sp>
      <p:sp>
        <p:nvSpPr>
          <p:cNvPr id="6" name="TextBox 5"/>
          <p:cNvSpPr txBox="1"/>
          <p:nvPr/>
        </p:nvSpPr>
        <p:spPr>
          <a:xfrm>
            <a:off x="749808" y="3483864"/>
            <a:ext cx="3209544" cy="731520"/>
          </a:xfrm>
          <a:prstGeom prst="rect">
            <a:avLst/>
          </a:prstGeom>
          <a:noFill/>
        </p:spPr>
        <p:txBody>
          <a:bodyPr wrap="square" lIns="0" rIns="0" tIns="0" bIns="0">
            <a:spAutoFit/>
          </a:bodyPr>
          <a:lstStyle/>
          <a:p>
            <a:pPr>
              <a:spcBef>
                <a:spcPts val="0"/>
              </a:spcBef>
              <a:spcAft>
                <a:spcPts val="600"/>
              </a:spcAft>
              <a:defRPr sz="2100" b="1">
                <a:solidFill>
                  <a:srgbClr val="45D6B4"/>
                </a:solidFill>
                <a:latin typeface="Arial"/>
              </a:defRPr>
            </a:pPr>
            <a:r>
              <a:t>Что нужно от партнёра</a:t>
            </a:r>
          </a:p>
        </p:txBody>
      </p:sp>
      <p:sp>
        <p:nvSpPr>
          <p:cNvPr id="7" name="TextBox 6"/>
          <p:cNvSpPr txBox="1"/>
          <p:nvPr/>
        </p:nvSpPr>
        <p:spPr>
          <a:xfrm>
            <a:off x="4434840" y="3483864"/>
            <a:ext cx="6949440" cy="850392"/>
          </a:xfrm>
          <a:prstGeom prst="rect">
            <a:avLst/>
          </a:prstGeom>
          <a:noFill/>
        </p:spPr>
        <p:txBody>
          <a:bodyPr wrap="square" lIns="0" rIns="0" tIns="0" bIns="0">
            <a:spAutoFit/>
          </a:bodyPr>
          <a:lstStyle/>
          <a:p>
            <a:pPr>
              <a:spcBef>
                <a:spcPts val="0"/>
              </a:spcBef>
              <a:spcAft>
                <a:spcPts val="600"/>
              </a:spcAft>
              <a:defRPr sz="2000" b="0">
                <a:solidFill>
                  <a:srgbClr val="F4F7F8"/>
                </a:solidFill>
                <a:latin typeface="Arial"/>
              </a:defRPr>
            </a:pPr>
            <a:r>
              <a:t>Эксперт антифрода, согласованные данные и сценарий пилота</a:t>
            </a:r>
          </a:p>
        </p:txBody>
      </p:sp>
      <p:sp>
        <p:nvSpPr>
          <p:cNvPr id="8" name="TextBox 7"/>
          <p:cNvSpPr txBox="1"/>
          <p:nvPr/>
        </p:nvSpPr>
        <p:spPr>
          <a:xfrm>
            <a:off x="749808" y="4572000"/>
            <a:ext cx="3209544" cy="731520"/>
          </a:xfrm>
          <a:prstGeom prst="rect">
            <a:avLst/>
          </a:prstGeom>
          <a:noFill/>
        </p:spPr>
        <p:txBody>
          <a:bodyPr wrap="square" lIns="0" rIns="0" tIns="0" bIns="0">
            <a:spAutoFit/>
          </a:bodyPr>
          <a:lstStyle/>
          <a:p>
            <a:pPr>
              <a:spcBef>
                <a:spcPts val="0"/>
              </a:spcBef>
              <a:spcAft>
                <a:spcPts val="600"/>
              </a:spcAft>
              <a:defRPr sz="2100" b="1">
                <a:solidFill>
                  <a:srgbClr val="45D6B4"/>
                </a:solidFill>
                <a:latin typeface="Arial"/>
              </a:defRPr>
            </a:pPr>
            <a:r>
              <a:t>Демо</a:t>
            </a:r>
          </a:p>
        </p:txBody>
      </p:sp>
      <p:sp>
        <p:nvSpPr>
          <p:cNvPr id="9" name="TextBox 8"/>
          <p:cNvSpPr txBox="1"/>
          <p:nvPr/>
        </p:nvSpPr>
        <p:spPr>
          <a:xfrm>
            <a:off x="4434840" y="4572000"/>
            <a:ext cx="6949440" cy="850392"/>
          </a:xfrm>
          <a:prstGeom prst="rect">
            <a:avLst/>
          </a:prstGeom>
          <a:noFill/>
        </p:spPr>
        <p:txBody>
          <a:bodyPr wrap="square" lIns="0" rIns="0" tIns="0" bIns="0">
            <a:spAutoFit/>
          </a:bodyPr>
          <a:lstStyle/>
          <a:p>
            <a:pPr>
              <a:spcBef>
                <a:spcPts val="0"/>
              </a:spcBef>
              <a:spcAft>
                <a:spcPts val="600"/>
              </a:spcAft>
              <a:defRPr sz="2000" b="0">
                <a:solidFill>
                  <a:srgbClr val="F4F7F8"/>
                </a:solidFill>
                <a:latin typeface="Arial"/>
              </a:defRPr>
            </a:pPr>
            <a:r>
              <a:t>Локальный Docker-прототип. Внешнюю ссылку добавим после деплоя</a:t>
            </a:r>
          </a:p>
        </p:txBody>
      </p:sp>
      <p:sp>
        <p:nvSpPr>
          <p:cNvPr id="10" name="TextBox 9"/>
          <p:cNvSpPr txBox="1"/>
          <p:nvPr/>
        </p:nvSpPr>
        <p:spPr>
          <a:xfrm>
            <a:off x="731520" y="6071616"/>
            <a:ext cx="10716768" cy="438912"/>
          </a:xfrm>
          <a:prstGeom prst="rect">
            <a:avLst/>
          </a:prstGeom>
          <a:noFill/>
        </p:spPr>
        <p:txBody>
          <a:bodyPr wrap="square" lIns="0" rIns="0" tIns="0" bIns="0">
            <a:spAutoFit/>
          </a:bodyPr>
          <a:lstStyle/>
          <a:p>
            <a:pPr>
              <a:spcBef>
                <a:spcPts val="0"/>
              </a:spcBef>
              <a:spcAft>
                <a:spcPts val="600"/>
              </a:spcAft>
              <a:defRPr sz="1200" b="0">
                <a:solidFill>
                  <a:srgbClr val="A8BAC6"/>
                </a:solidFill>
                <a:latin typeface="Arial"/>
              </a:defRPr>
            </a:pPr>
            <a:r>
              <a:rPr>
                <a:hlinkClick r:id="rId2"/>
              </a:rPr>
              <a:t>github.com/z4n9/anti_fraud_combined</a:t>
            </a:r>
          </a:p>
        </p:txBody>
      </p:sp>
      <p:sp>
        <p:nvSpPr>
          <p:cNvPr id="11" name="TextBox 10"/>
          <p:cNvSpPr txBox="1"/>
          <p:nvPr/>
        </p:nvSpPr>
        <p:spPr>
          <a:xfrm>
            <a:off x="10972800" y="6437376"/>
            <a:ext cx="685800" cy="219456"/>
          </a:xfrm>
          <a:prstGeom prst="rect">
            <a:avLst/>
          </a:prstGeom>
          <a:noFill/>
        </p:spPr>
        <p:txBody>
          <a:bodyPr wrap="square" lIns="0" rIns="0" tIns="0" bIns="0">
            <a:spAutoFit/>
          </a:bodyPr>
          <a:lstStyle/>
          <a:p>
            <a:pPr>
              <a:spcBef>
                <a:spcPts val="0"/>
              </a:spcBef>
              <a:spcAft>
                <a:spcPts val="600"/>
              </a:spcAft>
              <a:defRPr sz="1000" b="0">
                <a:solidFill>
                  <a:srgbClr val="A8BAC6"/>
                </a:solidFill>
                <a:latin typeface="Arial"/>
              </a:defRPr>
            </a:pPr>
            <a:r>
              <a:t>12 / 12</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5D6B4"/>
      </a:hlink>
      <a:folHlink>
        <a:srgbClr val="45D6B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5D6B4"/>
      </a:hlink>
      <a:folHlink>
        <a:srgbClr val="45D6B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Family Guard — семейная защита банковских переводов</dc:title>
  <dc:subject>Pitch-deck Caspian University, конкурс АБРК 2026</dc:subject>
  <dc:creator>Команда проекта Family Guard</dc:creator>
  <cp:keywords>Fintech, Cybersecurity, Family protection, MVP</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