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Представляем AMAN Guard, конкурсный проект Caspian University. Мы объединяем проверку операции на стороне банка и решение доверенных родственников. Показываем работающий демонстрационный MVP с тестовыми деньгами. Основная задача проекта — помочь клиенту остановиться до исполнения перевода, который он совершает под воздействием мошенника. Сегодня покажем метод, реализованный сценарий, проверки и путь к банковскому пилоту. ФИО участников добавляются командой перед подачей.</a:t>
            </a:r>
          </a:p>
          <a:p/>
          <a:p>
            <a:r>
              <a:t>Источники и проверка:</a:t>
            </a:r>
          </a:p>
          <a:p>
            <a:r>
              <a:t>docs/contest-requirements.md</a:t>
            </a:r>
          </a:p>
          <a:p>
            <a:r>
              <a:t>docs/mvp-release.md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Нацбанк сообщает о 80 871 инциденте по транзакциям с признаками мошенничества на 1 января 2026 года. Это зарегистрированные инциденты Антифрод-центра, а не число потерпевших или наш адресуемый рынок. Мы фокусируемся на ситуации, когда клиент сам совершает перевод под давлением. Первичная аудитория — клиенты, добровольно подключившие семейную защиту. Возможный заказчик пилота — банк с мобильными переводами и действующей командой антифрода. Коммерческую модель проверим с партнёром.</a:t>
            </a:r>
          </a:p>
          <a:p/>
          <a:p>
            <a:r>
              <a:t>Источники и проверка:</a:t>
            </a:r>
          </a:p>
          <a:p>
            <a:r>
              <a:t>https://nationalbank.kz/ru/news/informacionnye-soobshcheniya/18571</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Клиент создаёт перевод, а сервер оценивает операцию и историю. Высокий риск запускает семейное согласование. Родственники входят в свои аккаунты и принимают решение по конкретной операции. До окончательного разрешения списания нет. Если голоса различаются, решение переходит сотруднику банка. Если доверенного лица нет, операция высокого риска автоматически не исполняется. Обычные операции также проходят серверную проверку. Родственник получает ограниченную роль согласующего, а не доступ ко всему счёту.</a:t>
            </a:r>
          </a:p>
          <a:p/>
          <a:p>
            <a:r>
              <a:t>Источники и проверка:</a:t>
            </a:r>
          </a:p>
          <a:p>
            <a:r>
              <a:t>USER_GUIDE.md</a:t>
            </a:r>
          </a:p>
          <a:p>
            <a:r>
              <a:t>docs/decisions.md ADR-013</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каждую операцию мы фиксируем состав голосующих. До трёх родственников подключаются только после личного согласия. Перевод ждёт всех ответов: при нескольких родственниках одно одобрение не завершает заявку. Единогласное отклонение прекращает перевод, а конфликт передаёт его банку. Истечение срока не превращается в автоматическое исполнение. AntiScam может потребовать дополнительного банковского решения и после единогласного семейного одобрения. Отправитель не может подтвердить собственную заявку. Для другой суммы или получателя создаётся новое согласование.</a:t>
            </a:r>
          </a:p>
          <a:p/>
          <a:p>
            <a:r>
              <a:t>Источники и проверка:</a:t>
            </a:r>
          </a:p>
          <a:p>
            <a:r>
              <a:t>docs/decisions.md ADR-013</a:t>
            </a:r>
          </a:p>
          <a:p>
            <a:r>
              <a:t>backend/tests/test_multi_family_workflow.py</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проверенной версии действует движок правил и ограниченный граф связей. Он использует признаки операции и доступную историю, формирует сигнал и понятные объяснения. Исторические признаки не должны использовать будущие операции. Мы отдельно учитываем ограничения данных. AntiScam сохраняет ответы о давлении, секретности и незнакомце и может направить заявку в банковскую проверку. Обученный и валидированный ML-артефакт в этом демо не заявляется. Число на экране — сигнал правил, а не калиброванная вероятность мошенничества.</a:t>
            </a:r>
          </a:p>
          <a:p/>
          <a:p>
            <a:r>
              <a:t>Источники и проверка:</a:t>
            </a:r>
          </a:p>
          <a:p>
            <a:r>
              <a:t>backend/app/services/transaction_rules.py</a:t>
            </a:r>
          </a:p>
          <a:p>
            <a:r>
              <a:t>docs/mvp-release.md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Клиентский интерфейс и кабинет аналитика обращаются к одному FastAPI-сервису. Внутри разделены банковское ядро, семейное согласование, антифрод и аналитическая обработка. Сервер контролирует роли. Банк и аудит используют SQLite, аналитические результаты находятся в приватном хранилище. Постоянный Docker-том сохраняет состояние при пересоздании контейнера. Такой состав упрощает демонстрацию. Промышленное многопроцессное масштабирование пока не реализовано: перед пилотом нужно измерить нагрузку и определить следующую конфигурацию хранения и заданий.</a:t>
            </a:r>
          </a:p>
          <a:p/>
          <a:p>
            <a:r>
              <a:t>Источники и проверка:</a:t>
            </a:r>
          </a:p>
          <a:p>
            <a:r>
              <a:t>Dockerfile</a:t>
            </a:r>
          </a:p>
          <a:p>
            <a:r>
              <a:t>compose.yaml</a:t>
            </a:r>
          </a:p>
          <a:p>
            <a:r>
              <a:t>docs/architecture.md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Ledger решает две задачи. Сотрудник видит банковские события напрямую, без загрузки CSV. Отдельно он может импортировать структурированную выгрузку, проверить план анализа и исследовать результат. Для быстрого показа есть семь собственных синтетических операций. Расширенная выборка содержит сто тысяч строк MoMTSim, источник — Denish Azamuke, Mendeley Data, версия 2, лицензия CC BY 4.0. Мы изменили схему и синтетически восстановили время. Эта выборка не доказывает качество детектора на реальном банке. Полный источник превышает лимит миллиона записей.</a:t>
            </a:r>
          </a:p>
          <a:p/>
          <a:p>
            <a:r>
              <a:t>Источники и проверка:</a:t>
            </a:r>
          </a:p>
          <a:p>
            <a:r>
              <a:t>https://data.mendeley.com/datasets/zhj366m53p/2</a:t>
            </a:r>
          </a:p>
          <a:p>
            <a:r>
              <a:t>docs/dataset-attribution.md</a:t>
            </a:r>
          </a:p>
          <a:p>
            <a:r>
              <a:t>examples/README.md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Проверки подтверждают функциональное поведение системы. В последнем полном прогоне прошли 339 тестов бэкенда, семь пропущены. После сбора полного набора отдельно прошли шесть новых тестов защиты скрипта. Все 63 теста интерфейса также прошли. Семь проверок маппинга уже входят в 339, повторно их не считаем. Эти результаты не измеряют точность выявления мошенничества. Для precision, recall и доли ложных тревог нужен фиксированный размеченный набор, временное разделение и отдельный воспроизводимый отчёт.</a:t>
            </a:r>
          </a:p>
          <a:p/>
          <a:p>
            <a:r>
              <a:t>Источники и проверка:</a:t>
            </a:r>
          </a:p>
          <a:p>
            <a:r>
              <a:t>docs/presentation-check.md</a:t>
            </a:r>
          </a:p>
          <a:p>
            <a:r>
              <a:t>docs/testing.md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Основной тест легко показать жюри. На чистой репетиционной базе Амина подключает Марата и Сауле. Оба принимают приглашения. Она создаёт перевод в миллион тенге и двадцать пять тиынов Айдане. Марат одобряет, Сауле отклоняет. До банковского решения деньги остаются на счёте отправителя. Сотрудник указывает основание и разрешает перевод. Автоматические проверки подтверждают одну проводку с каждой стороны и аудит, в том числе при повторе команды. Средства не резервируются: окончательное исполнение снова проверяет доступный баланс.</a:t>
            </a:r>
          </a:p>
          <a:p/>
          <a:p>
            <a:r>
              <a:t>Источники и проверка:</a:t>
            </a:r>
          </a:p>
          <a:p>
            <a:r>
              <a:t>scripts/smoke_demo.py</a:t>
            </a:r>
          </a:p>
          <a:p>
            <a:r>
              <a:t>PRESENTATION_GUIDE.md</a:t>
            </a:r>
          </a:p>
          <a:p>
            <a:r>
              <a:t>docs/presentation-check.md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оцениваем готовность как TRL 4: интегрированные компоненты прошли проверки в контролируемой среде. Это самооценка, а не сертификация. Главные риски — ложные тревоги, недоступность согласующего и компрометация аккаунта. Пока нет доказанной эффективности на реальных банковских данных. Система не гарантирует защиту при сговоре или ошибке всех участников. Реальные eGov и платёжные сети в демо не подключены. Для пилота нужны усиленная идентификация, тестирование нагрузки, эксплуатационные процедуры и согласованный сценарий исключений.</a:t>
            </a:r>
          </a:p>
          <a:p/>
          <a:p>
            <a:r>
              <a:t>Источники и проверка:</a:t>
            </a:r>
          </a:p>
          <a:p>
            <a:r>
              <a:t>docs/mvp-release.md</a:t>
            </a:r>
          </a:p>
          <a:p>
            <a:r>
              <a:t>CONTEST_SUBMISSION.md</a:t>
            </a:r>
          </a:p>
          <a:p>
            <a:r>
              <a:t>https://www.nasa.gov/directorates/somd/space-communications-navigation-program/technology-readiness-levels/</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конкурса нам нужно развернуть публичное демо и отрепетировать показ. Затем предлагаем два этапа банковского пилота: сначала согласованные данные и оценка правил, затем интеграция с sandbox и проверка эксплуатации. Сроки зависят от доступа партнёра. Начальный сервер предлагаем за двенадцать долларов в месяц. За два полных месяца это двадцать четыре доллара только за вычисления. Это не полная стоимость разработки. Команде нужны компетенции бэкенда и данных, интерфейса и тестирования, а банку — эксперт антифрода и куратор интеграции. Персональный состав ещё уточняется.</a:t>
            </a:r>
          </a:p>
          <a:p/>
          <a:p>
            <a:r>
              <a:t>Источники и проверка:</a:t>
            </a:r>
          </a:p>
          <a:p>
            <a:r>
              <a:t>docs/contest-hosting-plan.md</a:t>
            </a:r>
          </a:p>
          <a:p>
            <a:r>
              <a:t>https://www.digitalocean.com/pricing/droplets</a:t>
            </a:r>
          </a:p>
          <a:p>
            <a:r>
              <a:t>docs/contest-requirements.md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предлагаем банку совместно проверить семейное согласование как дополнительный механизм защиты. У нас есть интегрированный MVP и воспроизводимые проверки финансового сценария. Следующий шаг — согласовать с экспертом антифрода критерии качества, получить разрешённые данные и показать полный процесс на sandbox. Публичная ссылка пока не готова, поэтому мы не подменяем её адресом localhost. Исходники размещены в репозитории, а локальный прототип запускается через Docker. Спасибо, готовы ответить на вопросы.</a:t>
            </a:r>
          </a:p>
          <a:p/>
          <a:p>
            <a:r>
              <a:t>Источники и проверка:</a:t>
            </a:r>
          </a:p>
          <a:p>
            <a:r>
              <a:t>https://github.com/z4n9/anti_fraud_combined</a:t>
            </a:r>
          </a:p>
          <a:p>
            <a:r>
              <a:t>docs/presentation-check.md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z4n9/anti_fraud_combined" TargetMode="External"/><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pic>
        <p:nvPicPr>
          <p:cNvPr id="2" name="Picture 1" descr="hero.pn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713232" y="1417320"/>
            <a:ext cx="6492240" cy="1005840"/>
          </a:xfrm>
          <a:prstGeom prst="rect">
            <a:avLst/>
          </a:prstGeom>
          <a:noFill/>
        </p:spPr>
        <p:txBody>
          <a:bodyPr wrap="square" lIns="0" rIns="0" tIns="0" bIns="0">
            <a:spAutoFit/>
          </a:bodyPr>
          <a:lstStyle/>
          <a:p>
            <a:pPr>
              <a:spcBef>
                <a:spcPts val="0"/>
              </a:spcBef>
              <a:spcAft>
                <a:spcPts val="600"/>
              </a:spcAft>
              <a:defRPr sz="5400" b="1">
                <a:solidFill>
                  <a:srgbClr val="F4F7F8"/>
                </a:solidFill>
                <a:latin typeface="Arial"/>
              </a:defRPr>
            </a:pPr>
            <a:r>
              <a:t>AMAN Guard</a:t>
            </a:r>
          </a:p>
        </p:txBody>
      </p:sp>
      <p:sp>
        <p:nvSpPr>
          <p:cNvPr id="4" name="TextBox 3"/>
          <p:cNvSpPr txBox="1"/>
          <p:nvPr/>
        </p:nvSpPr>
        <p:spPr>
          <a:xfrm>
            <a:off x="731520" y="2542032"/>
            <a:ext cx="5074920" cy="1371600"/>
          </a:xfrm>
          <a:prstGeom prst="rect">
            <a:avLst/>
          </a:prstGeom>
          <a:noFill/>
        </p:spPr>
        <p:txBody>
          <a:bodyPr wrap="square" lIns="0" rIns="0" tIns="0" bIns="0">
            <a:spAutoFit/>
          </a:bodyPr>
          <a:lstStyle/>
          <a:p>
            <a:pPr>
              <a:spcBef>
                <a:spcPts val="0"/>
              </a:spcBef>
              <a:spcAft>
                <a:spcPts val="600"/>
              </a:spcAft>
              <a:defRPr sz="3000" b="0">
                <a:solidFill>
                  <a:srgbClr val="F4F7F8"/>
                </a:solidFill>
                <a:latin typeface="Arial"/>
              </a:defRPr>
            </a:pPr>
            <a:r>
              <a:t>Семейная защита банковских переводов</a:t>
            </a:r>
          </a:p>
        </p:txBody>
      </p:sp>
      <p:sp>
        <p:nvSpPr>
          <p:cNvPr id="5" name="TextBox 4"/>
          <p:cNvSpPr txBox="1"/>
          <p:nvPr/>
        </p:nvSpPr>
        <p:spPr>
          <a:xfrm>
            <a:off x="731520" y="4828032"/>
            <a:ext cx="5303520" cy="411480"/>
          </a:xfrm>
          <a:prstGeom prst="rect">
            <a:avLst/>
          </a:prstGeom>
          <a:noFill/>
        </p:spPr>
        <p:txBody>
          <a:bodyPr wrap="square" lIns="0" rIns="0" tIns="0" bIns="0">
            <a:spAutoFit/>
          </a:bodyPr>
          <a:lstStyle/>
          <a:p>
            <a:pPr>
              <a:spcBef>
                <a:spcPts val="0"/>
              </a:spcBef>
              <a:spcAft>
                <a:spcPts val="600"/>
              </a:spcAft>
              <a:defRPr sz="1900" b="1">
                <a:solidFill>
                  <a:srgbClr val="45D6B4"/>
                </a:solidFill>
                <a:latin typeface="Arial"/>
              </a:defRPr>
            </a:pPr>
            <a:r>
              <a:t>Caspian University</a:t>
            </a:r>
          </a:p>
        </p:txBody>
      </p:sp>
      <p:sp>
        <p:nvSpPr>
          <p:cNvPr id="6" name="TextBox 5"/>
          <p:cNvSpPr txBox="1"/>
          <p:nvPr/>
        </p:nvSpPr>
        <p:spPr>
          <a:xfrm>
            <a:off x="731520" y="5367528"/>
            <a:ext cx="6126480" cy="731520"/>
          </a:xfrm>
          <a:prstGeom prst="rect">
            <a:avLst/>
          </a:prstGeom>
          <a:noFill/>
        </p:spPr>
        <p:txBody>
          <a:bodyPr wrap="square" lIns="0" rIns="0" tIns="0" bIns="0">
            <a:spAutoFit/>
          </a:bodyPr>
          <a:lstStyle/>
          <a:p>
            <a:pPr>
              <a:spcBef>
                <a:spcPts val="0"/>
              </a:spcBef>
              <a:spcAft>
                <a:spcPts val="600"/>
              </a:spcAft>
              <a:defRPr sz="1500" b="0">
                <a:solidFill>
                  <a:srgbClr val="A8BAC6"/>
                </a:solidFill>
                <a:latin typeface="Arial"/>
              </a:defRPr>
            </a:pPr>
            <a:r>
              <a:t>Алматы 2026</a:t>
            </a:r>
          </a:p>
          <a:p>
            <a:pPr>
              <a:spcBef>
                <a:spcPts val="0"/>
              </a:spcBef>
              <a:spcAft>
                <a:spcPts val="600"/>
              </a:spcAft>
              <a:defRPr sz="1500" b="0">
                <a:solidFill>
                  <a:srgbClr val="A8BAC6"/>
                </a:solidFill>
                <a:latin typeface="Arial"/>
              </a:defRPr>
            </a:pPr>
            <a:r>
              <a:t>Конкурс студенческих проектов АБРК</a:t>
            </a:r>
          </a:p>
        </p:txBody>
      </p:sp>
      <p:sp>
        <p:nvSpPr>
          <p:cNvPr id="7" name="TextBox 6"/>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01 / 12</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Контекст и аудитория</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Клиент может сам подтвердить навязанный перевод</a:t>
            </a:r>
          </a:p>
        </p:txBody>
      </p:sp>
      <p:sp>
        <p:nvSpPr>
          <p:cNvPr id="4" name="TextBox 3"/>
          <p:cNvSpPr txBox="1"/>
          <p:nvPr/>
        </p:nvSpPr>
        <p:spPr>
          <a:xfrm>
            <a:off x="731520" y="2377440"/>
            <a:ext cx="5577840" cy="1097280"/>
          </a:xfrm>
          <a:prstGeom prst="rect">
            <a:avLst/>
          </a:prstGeom>
          <a:noFill/>
        </p:spPr>
        <p:txBody>
          <a:bodyPr wrap="square" lIns="0" rIns="0" tIns="0" bIns="0">
            <a:spAutoFit/>
          </a:bodyPr>
          <a:lstStyle/>
          <a:p>
            <a:pPr>
              <a:spcBef>
                <a:spcPts val="0"/>
              </a:spcBef>
              <a:spcAft>
                <a:spcPts val="600"/>
              </a:spcAft>
              <a:defRPr sz="6600" b="1">
                <a:solidFill>
                  <a:srgbClr val="087F6B"/>
                </a:solidFill>
                <a:latin typeface="Arial"/>
              </a:defRPr>
            </a:pPr>
            <a:r>
              <a:t>80 871</a:t>
            </a:r>
          </a:p>
        </p:txBody>
      </p:sp>
      <p:sp>
        <p:nvSpPr>
          <p:cNvPr id="5" name="TextBox 4"/>
          <p:cNvSpPr txBox="1"/>
          <p:nvPr/>
        </p:nvSpPr>
        <p:spPr>
          <a:xfrm>
            <a:off x="768096" y="3639312"/>
            <a:ext cx="4983480" cy="1554480"/>
          </a:xfrm>
          <a:prstGeom prst="rect">
            <a:avLst/>
          </a:prstGeom>
          <a:noFill/>
        </p:spPr>
        <p:txBody>
          <a:bodyPr wrap="square" lIns="0" rIns="0" tIns="0" bIns="0">
            <a:spAutoFit/>
          </a:bodyPr>
          <a:lstStyle/>
          <a:p>
            <a:pPr>
              <a:spcBef>
                <a:spcPts val="0"/>
              </a:spcBef>
              <a:spcAft>
                <a:spcPts val="600"/>
              </a:spcAft>
              <a:defRPr sz="2400" b="0">
                <a:solidFill>
                  <a:srgbClr val="122936"/>
                </a:solidFill>
                <a:latin typeface="Arial"/>
              </a:defRPr>
            </a:pPr>
            <a:r>
              <a:t>инцидент по транзакциям с признаками мошенничества</a:t>
            </a:r>
          </a:p>
        </p:txBody>
      </p:sp>
      <p:sp>
        <p:nvSpPr>
          <p:cNvPr id="6" name="TextBox 5"/>
          <p:cNvSpPr txBox="1"/>
          <p:nvPr/>
        </p:nvSpPr>
        <p:spPr>
          <a:xfrm>
            <a:off x="6629400" y="2377440"/>
            <a:ext cx="4754880" cy="384048"/>
          </a:xfrm>
          <a:prstGeom prst="rect">
            <a:avLst/>
          </a:prstGeom>
          <a:noFill/>
        </p:spPr>
        <p:txBody>
          <a:bodyPr wrap="square" lIns="0" rIns="0" tIns="0" bIns="0">
            <a:spAutoFit/>
          </a:bodyPr>
          <a:lstStyle/>
          <a:p>
            <a:pPr>
              <a:spcBef>
                <a:spcPts val="0"/>
              </a:spcBef>
              <a:spcAft>
                <a:spcPts val="600"/>
              </a:spcAft>
              <a:defRPr sz="2000" b="1">
                <a:solidFill>
                  <a:srgbClr val="122936"/>
                </a:solidFill>
                <a:latin typeface="Arial"/>
              </a:defRPr>
            </a:pPr>
            <a:r>
              <a:t>Контекст Казахстана</a:t>
            </a:r>
          </a:p>
        </p:txBody>
      </p:sp>
      <p:sp>
        <p:nvSpPr>
          <p:cNvPr id="7" name="TextBox 6"/>
          <p:cNvSpPr txBox="1"/>
          <p:nvPr/>
        </p:nvSpPr>
        <p:spPr>
          <a:xfrm>
            <a:off x="6629400" y="2779776"/>
            <a:ext cx="4754880" cy="612648"/>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Данные Антифрод-центра на 1 января 2026 года</a:t>
            </a:r>
          </a:p>
        </p:txBody>
      </p:sp>
      <p:sp>
        <p:nvSpPr>
          <p:cNvPr id="8" name="TextBox 7"/>
          <p:cNvSpPr txBox="1"/>
          <p:nvPr/>
        </p:nvSpPr>
        <p:spPr>
          <a:xfrm>
            <a:off x="6629400" y="3383280"/>
            <a:ext cx="4754880" cy="384048"/>
          </a:xfrm>
          <a:prstGeom prst="rect">
            <a:avLst/>
          </a:prstGeom>
          <a:noFill/>
        </p:spPr>
        <p:txBody>
          <a:bodyPr wrap="square" lIns="0" rIns="0" tIns="0" bIns="0">
            <a:spAutoFit/>
          </a:bodyPr>
          <a:lstStyle/>
          <a:p>
            <a:pPr>
              <a:spcBef>
                <a:spcPts val="0"/>
              </a:spcBef>
              <a:spcAft>
                <a:spcPts val="600"/>
              </a:spcAft>
              <a:defRPr sz="2000" b="1">
                <a:solidFill>
                  <a:srgbClr val="122936"/>
                </a:solidFill>
                <a:latin typeface="Arial"/>
              </a:defRPr>
            </a:pPr>
            <a:r>
              <a:t>Пользователь</a:t>
            </a:r>
          </a:p>
        </p:txBody>
      </p:sp>
      <p:sp>
        <p:nvSpPr>
          <p:cNvPr id="9" name="TextBox 8"/>
          <p:cNvSpPr txBox="1"/>
          <p:nvPr/>
        </p:nvSpPr>
        <p:spPr>
          <a:xfrm>
            <a:off x="6629400" y="3785616"/>
            <a:ext cx="4754880" cy="612648"/>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Клиент, которому нужна дополнительная семейная защита</a:t>
            </a:r>
          </a:p>
        </p:txBody>
      </p:sp>
      <p:sp>
        <p:nvSpPr>
          <p:cNvPr id="10" name="TextBox 9"/>
          <p:cNvSpPr txBox="1"/>
          <p:nvPr/>
        </p:nvSpPr>
        <p:spPr>
          <a:xfrm>
            <a:off x="6629400" y="4389120"/>
            <a:ext cx="4754880" cy="384048"/>
          </a:xfrm>
          <a:prstGeom prst="rect">
            <a:avLst/>
          </a:prstGeom>
          <a:noFill/>
        </p:spPr>
        <p:txBody>
          <a:bodyPr wrap="square" lIns="0" rIns="0" tIns="0" bIns="0">
            <a:spAutoFit/>
          </a:bodyPr>
          <a:lstStyle/>
          <a:p>
            <a:pPr>
              <a:spcBef>
                <a:spcPts val="0"/>
              </a:spcBef>
              <a:spcAft>
                <a:spcPts val="600"/>
              </a:spcAft>
              <a:defRPr sz="2000" b="1">
                <a:solidFill>
                  <a:srgbClr val="122936"/>
                </a:solidFill>
                <a:latin typeface="Arial"/>
              </a:defRPr>
            </a:pPr>
            <a:r>
              <a:t>Заказчик пилота</a:t>
            </a:r>
          </a:p>
        </p:txBody>
      </p:sp>
      <p:sp>
        <p:nvSpPr>
          <p:cNvPr id="11" name="TextBox 10"/>
          <p:cNvSpPr txBox="1"/>
          <p:nvPr/>
        </p:nvSpPr>
        <p:spPr>
          <a:xfrm>
            <a:off x="6629400" y="4791456"/>
            <a:ext cx="4754880" cy="612648"/>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Банк с мобильными P2P-переводами и службой антифрода</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Источник: Национальный Банк Казахстана. Это контекст отрасли, а не размер рынка проекта.</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02 / 12</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Дополнительное согласование</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Высокий риск запускает семейную проверку</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Клиент</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Создаёт перевод. Сервер проверяет риск и показывает причины</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Родственники</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Отвечают из своих аккаунтов. До решения деньги остаются у клиента</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Сотрудник банка</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Разбирает конфликт голосов и фиксирует основание решения</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Без доверенного лица перевод высокого риска автоматически не исполняется.</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03 / 12</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Правила семейного решения</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Состав голосующих фиксируется для каждого перевода</a:t>
            </a:r>
          </a:p>
        </p:txBody>
      </p:sp>
      <p:sp>
        <p:nvSpPr>
          <p:cNvPr id="4" name="TextBox 3"/>
          <p:cNvSpPr txBox="1"/>
          <p:nvPr/>
        </p:nvSpPr>
        <p:spPr>
          <a:xfrm>
            <a:off x="731520"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Все одобрили</a:t>
            </a:r>
          </a:p>
        </p:txBody>
      </p:sp>
      <p:sp>
        <p:nvSpPr>
          <p:cNvPr id="5" name="TextBox 4"/>
          <p:cNvSpPr txBox="1"/>
          <p:nvPr/>
        </p:nvSpPr>
        <p:spPr>
          <a:xfrm>
            <a:off x="731520"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Исполнение после необходимых проверок, включая AntiScam</a:t>
            </a:r>
          </a:p>
        </p:txBody>
      </p:sp>
      <p:sp>
        <p:nvSpPr>
          <p:cNvPr id="6" name="TextBox 5"/>
          <p:cNvSpPr txBox="1"/>
          <p:nvPr/>
        </p:nvSpPr>
        <p:spPr>
          <a:xfrm>
            <a:off x="6473952"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Все отклонили</a:t>
            </a:r>
          </a:p>
        </p:txBody>
      </p:sp>
      <p:sp>
        <p:nvSpPr>
          <p:cNvPr id="7" name="TextBox 6"/>
          <p:cNvSpPr txBox="1"/>
          <p:nvPr/>
        </p:nvSpPr>
        <p:spPr>
          <a:xfrm>
            <a:off x="6473952"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Перевод завершается отказом без списания</a:t>
            </a:r>
          </a:p>
        </p:txBody>
      </p:sp>
      <p:sp>
        <p:nvSpPr>
          <p:cNvPr id="8" name="TextBox 7"/>
          <p:cNvSpPr txBox="1"/>
          <p:nvPr/>
        </p:nvSpPr>
        <p:spPr>
          <a:xfrm>
            <a:off x="731520"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Решения различаются</a:t>
            </a:r>
          </a:p>
        </p:txBody>
      </p:sp>
      <p:sp>
        <p:nvSpPr>
          <p:cNvPr id="9" name="TextBox 8"/>
          <p:cNvSpPr txBox="1"/>
          <p:nvPr/>
        </p:nvSpPr>
        <p:spPr>
          <a:xfrm>
            <a:off x="731520"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Сотрудник банка принимает решение с обязательным основанием</a:t>
            </a:r>
          </a:p>
        </p:txBody>
      </p:sp>
      <p:sp>
        <p:nvSpPr>
          <p:cNvPr id="10" name="TextBox 9"/>
          <p:cNvSpPr txBox="1"/>
          <p:nvPr/>
        </p:nvSpPr>
        <p:spPr>
          <a:xfrm>
            <a:off x="6473952"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Ответа пока нет</a:t>
            </a:r>
          </a:p>
        </p:txBody>
      </p:sp>
      <p:sp>
        <p:nvSpPr>
          <p:cNvPr id="11" name="TextBox 10"/>
          <p:cNvSpPr txBox="1"/>
          <p:nvPr/>
        </p:nvSpPr>
        <p:spPr>
          <a:xfrm>
            <a:off x="6473952"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Ожидание всех голосов. Срок заявки — 24 часа</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До 3 родственников с личным согласием. Смена суммы или получателя требует нового согласования.</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04 / 12</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Объяснимый антифрод</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Детерминированные правила и ограниченный граф связей</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Признаки операции</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Сумма и получатель</a:t>
            </a:r>
          </a:p>
          <a:p>
            <a:pPr>
              <a:spcBef>
                <a:spcPts val="0"/>
              </a:spcBef>
              <a:spcAft>
                <a:spcPts val="600"/>
              </a:spcAft>
              <a:defRPr sz="2000" b="0">
                <a:solidFill>
                  <a:srgbClr val="A8BAC6"/>
                </a:solidFill>
                <a:latin typeface="Arial"/>
              </a:defRPr>
            </a:pPr>
            <a:r>
              <a:t>Доступная история</a:t>
            </a:r>
          </a:p>
          <a:p>
            <a:pPr>
              <a:spcBef>
                <a:spcPts val="0"/>
              </a:spcBef>
              <a:spcAft>
                <a:spcPts val="600"/>
              </a:spcAft>
              <a:defRPr sz="2000" b="0">
                <a:solidFill>
                  <a:srgbClr val="A8BAC6"/>
                </a:solidFill>
                <a:latin typeface="Arial"/>
              </a:defRPr>
            </a:pPr>
            <a:r>
              <a:t>Частота и связи переводов</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Объяснение сигнала</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Причины риска для решения</a:t>
            </a:r>
          </a:p>
          <a:p>
            <a:pPr>
              <a:spcBef>
                <a:spcPts val="0"/>
              </a:spcBef>
              <a:spcAft>
                <a:spcPts val="600"/>
              </a:spcAft>
              <a:defRPr sz="2000" b="0">
                <a:solidFill>
                  <a:srgbClr val="A8BAC6"/>
                </a:solidFill>
                <a:latin typeface="Arial"/>
              </a:defRPr>
            </a:pPr>
            <a:r>
              <a:t>Контроль полноты данных</a:t>
            </a:r>
          </a:p>
          <a:p>
            <a:pPr>
              <a:spcBef>
                <a:spcPts val="0"/>
              </a:spcBef>
              <a:spcAft>
                <a:spcPts val="600"/>
              </a:spcAft>
              <a:defRPr sz="2000" b="0">
                <a:solidFill>
                  <a:srgbClr val="A8BAC6"/>
                </a:solidFill>
                <a:latin typeface="Arial"/>
              </a:defRPr>
            </a:pPr>
            <a:r>
              <a:t>История до оцениваемой операции</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AntiScam</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Давление</a:t>
            </a:r>
          </a:p>
          <a:p>
            <a:pPr>
              <a:spcBef>
                <a:spcPts val="0"/>
              </a:spcBef>
              <a:spcAft>
                <a:spcPts val="600"/>
              </a:spcAft>
              <a:defRPr sz="2000" b="0">
                <a:solidFill>
                  <a:srgbClr val="A8BAC6"/>
                </a:solidFill>
                <a:latin typeface="Arial"/>
              </a:defRPr>
            </a:pPr>
            <a:r>
              <a:t>Просьба о секретности</a:t>
            </a:r>
          </a:p>
          <a:p>
            <a:pPr>
              <a:spcBef>
                <a:spcPts val="0"/>
              </a:spcBef>
              <a:spcAft>
                <a:spcPts val="600"/>
              </a:spcAft>
              <a:defRPr sz="2000" b="0">
                <a:solidFill>
                  <a:srgbClr val="A8BAC6"/>
                </a:solidFill>
                <a:latin typeface="Arial"/>
              </a:defRPr>
            </a:pPr>
            <a:r>
              <a:t>Незнакомый инициатор</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Работает режим правил. Оценка сигнала не является вероятностью мошенничества.</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05 / 12</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Архитектура MVP</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Один сервис с отдельными банковским и аналитическим модулями</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Интерфейсы</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AMAN Bank для клиента</a:t>
            </a:r>
          </a:p>
          <a:p>
            <a:pPr>
              <a:spcBef>
                <a:spcPts val="0"/>
              </a:spcBef>
              <a:spcAft>
                <a:spcPts val="600"/>
              </a:spcAft>
              <a:defRPr sz="2000" b="0">
                <a:solidFill>
                  <a:srgbClr val="A8BAC6"/>
                </a:solidFill>
                <a:latin typeface="Arial"/>
              </a:defRPr>
            </a:pPr>
            <a:r>
              <a:t>Risk Ledger для сотрудника</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FastAPI</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Авторизация и права</a:t>
            </a:r>
          </a:p>
          <a:p>
            <a:pPr>
              <a:spcBef>
                <a:spcPts val="0"/>
              </a:spcBef>
              <a:spcAft>
                <a:spcPts val="600"/>
              </a:spcAft>
              <a:defRPr sz="2000" b="0">
                <a:solidFill>
                  <a:srgbClr val="A8BAC6"/>
                </a:solidFill>
                <a:latin typeface="Arial"/>
              </a:defRPr>
            </a:pPr>
            <a:r>
              <a:t>Переводы и согласование</a:t>
            </a:r>
          </a:p>
          <a:p>
            <a:pPr>
              <a:spcBef>
                <a:spcPts val="0"/>
              </a:spcBef>
              <a:spcAft>
                <a:spcPts val="600"/>
              </a:spcAft>
              <a:defRPr sz="2000" b="0">
                <a:solidFill>
                  <a:srgbClr val="A8BAC6"/>
                </a:solidFill>
                <a:latin typeface="Arial"/>
              </a:defRPr>
            </a:pPr>
            <a:r>
              <a:t>Правила и аналитические задания</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Данные</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SQLite для банка и аудита</a:t>
            </a:r>
          </a:p>
          <a:p>
            <a:pPr>
              <a:spcBef>
                <a:spcPts val="0"/>
              </a:spcBef>
              <a:spcAft>
                <a:spcPts val="600"/>
              </a:spcAft>
              <a:defRPr sz="2000" b="0">
                <a:solidFill>
                  <a:srgbClr val="A8BAC6"/>
                </a:solidFill>
                <a:latin typeface="Arial"/>
              </a:defRPr>
            </a:pPr>
            <a:r>
              <a:t>Приватные аналитические файлы</a:t>
            </a:r>
          </a:p>
          <a:p>
            <a:pPr>
              <a:spcBef>
                <a:spcPts val="0"/>
              </a:spcBef>
              <a:spcAft>
                <a:spcPts val="600"/>
              </a:spcAft>
              <a:defRPr sz="2000" b="0">
                <a:solidFill>
                  <a:srgbClr val="A8BAC6"/>
                </a:solidFill>
                <a:latin typeface="Arial"/>
              </a:defRPr>
            </a:pPr>
            <a:r>
              <a:t>Постоянный том Docker</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Python / SQLAlchemy / React / TypeScript. SQLite и один worker — граница текущего MVP.</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06 / 12</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Risk Ledger и данные</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Банковские события доступны без загрузки файла</a:t>
            </a:r>
          </a:p>
        </p:txBody>
      </p:sp>
      <p:sp>
        <p:nvSpPr>
          <p:cNvPr id="4" name="TextBox 3"/>
          <p:cNvSpPr txBox="1"/>
          <p:nvPr/>
        </p:nvSpPr>
        <p:spPr>
          <a:xfrm>
            <a:off x="749808" y="2395728"/>
            <a:ext cx="3209544" cy="731520"/>
          </a:xfrm>
          <a:prstGeom prst="rect">
            <a:avLst/>
          </a:prstGeom>
          <a:noFill/>
        </p:spPr>
        <p:txBody>
          <a:bodyPr wrap="square" lIns="0" rIns="0" tIns="0" bIns="0">
            <a:spAutoFit/>
          </a:bodyPr>
          <a:lstStyle/>
          <a:p>
            <a:pPr>
              <a:spcBef>
                <a:spcPts val="0"/>
              </a:spcBef>
              <a:spcAft>
                <a:spcPts val="600"/>
              </a:spcAft>
              <a:defRPr sz="2100" b="1">
                <a:solidFill>
                  <a:srgbClr val="087F6B"/>
                </a:solidFill>
                <a:latin typeface="Arial"/>
              </a:defRPr>
            </a:pPr>
            <a:r>
              <a:t>События банка</a:t>
            </a:r>
          </a:p>
        </p:txBody>
      </p:sp>
      <p:sp>
        <p:nvSpPr>
          <p:cNvPr id="5" name="TextBox 4"/>
          <p:cNvSpPr txBox="1"/>
          <p:nvPr/>
        </p:nvSpPr>
        <p:spPr>
          <a:xfrm>
            <a:off x="4434840" y="2395728"/>
            <a:ext cx="6949440" cy="850392"/>
          </a:xfrm>
          <a:prstGeom prst="rect">
            <a:avLst/>
          </a:prstGeom>
          <a:noFill/>
        </p:spPr>
        <p:txBody>
          <a:bodyPr wrap="square" lIns="0" rIns="0" tIns="0" bIns="0">
            <a:spAutoFit/>
          </a:bodyPr>
          <a:lstStyle/>
          <a:p>
            <a:pPr>
              <a:spcBef>
                <a:spcPts val="0"/>
              </a:spcBef>
              <a:spcAft>
                <a:spcPts val="600"/>
              </a:spcAft>
              <a:defRPr sz="2000" b="0">
                <a:solidFill>
                  <a:srgbClr val="122936"/>
                </a:solidFill>
                <a:latin typeface="Arial"/>
              </a:defRPr>
            </a:pPr>
            <a:r>
              <a:t>Очередь согласований, причины риска и аудит решения</a:t>
            </a:r>
          </a:p>
        </p:txBody>
      </p:sp>
      <p:sp>
        <p:nvSpPr>
          <p:cNvPr id="6" name="TextBox 5"/>
          <p:cNvSpPr txBox="1"/>
          <p:nvPr/>
        </p:nvSpPr>
        <p:spPr>
          <a:xfrm>
            <a:off x="749808" y="3483864"/>
            <a:ext cx="3209544" cy="731520"/>
          </a:xfrm>
          <a:prstGeom prst="rect">
            <a:avLst/>
          </a:prstGeom>
          <a:noFill/>
        </p:spPr>
        <p:txBody>
          <a:bodyPr wrap="square" lIns="0" rIns="0" tIns="0" bIns="0">
            <a:spAutoFit/>
          </a:bodyPr>
          <a:lstStyle/>
          <a:p>
            <a:pPr>
              <a:spcBef>
                <a:spcPts val="0"/>
              </a:spcBef>
              <a:spcAft>
                <a:spcPts val="600"/>
              </a:spcAft>
              <a:defRPr sz="2100" b="1">
                <a:solidFill>
                  <a:srgbClr val="087F6B"/>
                </a:solidFill>
                <a:latin typeface="Arial"/>
              </a:defRPr>
            </a:pPr>
            <a:r>
              <a:t>Импорт и расследование</a:t>
            </a:r>
          </a:p>
        </p:txBody>
      </p:sp>
      <p:sp>
        <p:nvSpPr>
          <p:cNvPr id="7" name="TextBox 6"/>
          <p:cNvSpPr txBox="1"/>
          <p:nvPr/>
        </p:nvSpPr>
        <p:spPr>
          <a:xfrm>
            <a:off x="4434840" y="3483864"/>
            <a:ext cx="6949440" cy="850392"/>
          </a:xfrm>
          <a:prstGeom prst="rect">
            <a:avLst/>
          </a:prstGeom>
          <a:noFill/>
        </p:spPr>
        <p:txBody>
          <a:bodyPr wrap="square" lIns="0" rIns="0" tIns="0" bIns="0">
            <a:spAutoFit/>
          </a:bodyPr>
          <a:lstStyle/>
          <a:p>
            <a:pPr>
              <a:spcBef>
                <a:spcPts val="0"/>
              </a:spcBef>
              <a:spcAft>
                <a:spcPts val="600"/>
              </a:spcAft>
              <a:defRPr sz="2000" b="0">
                <a:solidFill>
                  <a:srgbClr val="122936"/>
                </a:solidFill>
                <a:latin typeface="Arial"/>
              </a:defRPr>
            </a:pPr>
            <a:r>
              <a:t>CSV, JSON, SQL, SQLite, BSON. План, анализ, объяснения и экспорт</a:t>
            </a:r>
          </a:p>
        </p:txBody>
      </p:sp>
      <p:sp>
        <p:nvSpPr>
          <p:cNvPr id="8" name="TextBox 7"/>
          <p:cNvSpPr txBox="1"/>
          <p:nvPr/>
        </p:nvSpPr>
        <p:spPr>
          <a:xfrm>
            <a:off x="749808" y="4572000"/>
            <a:ext cx="3209544" cy="731520"/>
          </a:xfrm>
          <a:prstGeom prst="rect">
            <a:avLst/>
          </a:prstGeom>
          <a:noFill/>
        </p:spPr>
        <p:txBody>
          <a:bodyPr wrap="square" lIns="0" rIns="0" tIns="0" bIns="0">
            <a:spAutoFit/>
          </a:bodyPr>
          <a:lstStyle/>
          <a:p>
            <a:pPr>
              <a:spcBef>
                <a:spcPts val="0"/>
              </a:spcBef>
              <a:spcAft>
                <a:spcPts val="600"/>
              </a:spcAft>
              <a:defRPr sz="2100" b="1">
                <a:solidFill>
                  <a:srgbClr val="087F6B"/>
                </a:solidFill>
                <a:latin typeface="Arial"/>
              </a:defRPr>
            </a:pPr>
            <a:r>
              <a:t>Демонстрационные данные</a:t>
            </a:r>
          </a:p>
        </p:txBody>
      </p:sp>
      <p:sp>
        <p:nvSpPr>
          <p:cNvPr id="9" name="TextBox 8"/>
          <p:cNvSpPr txBox="1"/>
          <p:nvPr/>
        </p:nvSpPr>
        <p:spPr>
          <a:xfrm>
            <a:off x="4434840" y="4572000"/>
            <a:ext cx="6949440" cy="850392"/>
          </a:xfrm>
          <a:prstGeom prst="rect">
            <a:avLst/>
          </a:prstGeom>
          <a:noFill/>
        </p:spPr>
        <p:txBody>
          <a:bodyPr wrap="square" lIns="0" rIns="0" tIns="0" bIns="0">
            <a:spAutoFit/>
          </a:bodyPr>
          <a:lstStyle/>
          <a:p>
            <a:pPr>
              <a:spcBef>
                <a:spcPts val="0"/>
              </a:spcBef>
              <a:spcAft>
                <a:spcPts val="600"/>
              </a:spcAft>
              <a:defRPr sz="2000" b="0">
                <a:solidFill>
                  <a:srgbClr val="122936"/>
                </a:solidFill>
                <a:latin typeface="Arial"/>
              </a:defRPr>
            </a:pPr>
            <a:r>
              <a:t>7 собственных операций для быстрого показа</a:t>
            </a:r>
          </a:p>
          <a:p>
            <a:pPr>
              <a:spcBef>
                <a:spcPts val="0"/>
              </a:spcBef>
              <a:spcAft>
                <a:spcPts val="600"/>
              </a:spcAft>
              <a:defRPr sz="2000" b="0">
                <a:solidFill>
                  <a:srgbClr val="122936"/>
                </a:solidFill>
                <a:latin typeface="Arial"/>
              </a:defRPr>
            </a:pPr>
            <a:r>
              <a:t>100 000 строк подготовленной выборки MoMTSim</a:t>
            </a:r>
          </a:p>
        </p:txBody>
      </p:sp>
      <p:sp>
        <p:nvSpPr>
          <p:cNvPr id="10" name="TextBox 9"/>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MoMTSim v2: Denish Azamuke, Mendeley Data, CC BY 4.0. Данные и восстановленное время синтетические.</a:t>
            </a:r>
          </a:p>
        </p:txBody>
      </p:sp>
      <p:sp>
        <p:nvSpPr>
          <p:cNvPr id="11" name="TextBox 10"/>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07 / 12</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Проверки и метрики</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Результаты функциональной верификации от 11 октября 2026 года</a:t>
            </a:r>
          </a:p>
        </p:txBody>
      </p:sp>
      <p:sp>
        <p:nvSpPr>
          <p:cNvPr id="4" name="TextBox 3"/>
          <p:cNvSpPr txBox="1"/>
          <p:nvPr/>
        </p:nvSpPr>
        <p:spPr>
          <a:xfrm>
            <a:off x="731520" y="2532888"/>
            <a:ext cx="3401568" cy="1143000"/>
          </a:xfrm>
          <a:prstGeom prst="rect">
            <a:avLst/>
          </a:prstGeom>
          <a:noFill/>
        </p:spPr>
        <p:txBody>
          <a:bodyPr wrap="square" lIns="0" rIns="0" tIns="0" bIns="0">
            <a:spAutoFit/>
          </a:bodyPr>
          <a:lstStyle/>
          <a:p>
            <a:pPr>
              <a:spcBef>
                <a:spcPts val="0"/>
              </a:spcBef>
              <a:spcAft>
                <a:spcPts val="600"/>
              </a:spcAft>
              <a:defRPr sz="6400" b="1">
                <a:solidFill>
                  <a:srgbClr val="087F6B"/>
                </a:solidFill>
                <a:latin typeface="Arial"/>
              </a:defRPr>
            </a:pPr>
            <a:r>
              <a:t>339</a:t>
            </a:r>
          </a:p>
        </p:txBody>
      </p:sp>
      <p:sp>
        <p:nvSpPr>
          <p:cNvPr id="5" name="TextBox 4"/>
          <p:cNvSpPr txBox="1"/>
          <p:nvPr/>
        </p:nvSpPr>
        <p:spPr>
          <a:xfrm>
            <a:off x="731520" y="3849624"/>
            <a:ext cx="3273552" cy="1417320"/>
          </a:xfrm>
          <a:prstGeom prst="rect">
            <a:avLst/>
          </a:prstGeom>
          <a:noFill/>
        </p:spPr>
        <p:txBody>
          <a:bodyPr wrap="square" lIns="0" rIns="0" tIns="0" bIns="0">
            <a:spAutoFit/>
          </a:bodyPr>
          <a:lstStyle/>
          <a:p>
            <a:pPr>
              <a:spcBef>
                <a:spcPts val="0"/>
              </a:spcBef>
              <a:spcAft>
                <a:spcPts val="600"/>
              </a:spcAft>
              <a:defRPr sz="2200" b="0">
                <a:solidFill>
                  <a:srgbClr val="122936"/>
                </a:solidFill>
                <a:latin typeface="Arial"/>
              </a:defRPr>
            </a:pPr>
            <a:r>
              <a:t>Тестов полного backend-прогона прошли. 7 пропущены</a:t>
            </a:r>
          </a:p>
        </p:txBody>
      </p:sp>
      <p:sp>
        <p:nvSpPr>
          <p:cNvPr id="6" name="TextBox 5"/>
          <p:cNvSpPr txBox="1"/>
          <p:nvPr/>
        </p:nvSpPr>
        <p:spPr>
          <a:xfrm>
            <a:off x="4553712" y="2532888"/>
            <a:ext cx="3401568" cy="1143000"/>
          </a:xfrm>
          <a:prstGeom prst="rect">
            <a:avLst/>
          </a:prstGeom>
          <a:noFill/>
        </p:spPr>
        <p:txBody>
          <a:bodyPr wrap="square" lIns="0" rIns="0" tIns="0" bIns="0">
            <a:spAutoFit/>
          </a:bodyPr>
          <a:lstStyle/>
          <a:p>
            <a:pPr>
              <a:spcBef>
                <a:spcPts val="0"/>
              </a:spcBef>
              <a:spcAft>
                <a:spcPts val="600"/>
              </a:spcAft>
              <a:defRPr sz="6400" b="1">
                <a:solidFill>
                  <a:srgbClr val="087F6B"/>
                </a:solidFill>
                <a:latin typeface="Arial"/>
              </a:defRPr>
            </a:pPr>
            <a:r>
              <a:t>63</a:t>
            </a:r>
          </a:p>
        </p:txBody>
      </p:sp>
      <p:sp>
        <p:nvSpPr>
          <p:cNvPr id="7" name="TextBox 6"/>
          <p:cNvSpPr txBox="1"/>
          <p:nvPr/>
        </p:nvSpPr>
        <p:spPr>
          <a:xfrm>
            <a:off x="4553712" y="3849624"/>
            <a:ext cx="3273552" cy="1417320"/>
          </a:xfrm>
          <a:prstGeom prst="rect">
            <a:avLst/>
          </a:prstGeom>
          <a:noFill/>
        </p:spPr>
        <p:txBody>
          <a:bodyPr wrap="square" lIns="0" rIns="0" tIns="0" bIns="0">
            <a:spAutoFit/>
          </a:bodyPr>
          <a:lstStyle/>
          <a:p>
            <a:pPr>
              <a:spcBef>
                <a:spcPts val="0"/>
              </a:spcBef>
              <a:spcAft>
                <a:spcPts val="600"/>
              </a:spcAft>
              <a:defRPr sz="2200" b="0">
                <a:solidFill>
                  <a:srgbClr val="122936"/>
                </a:solidFill>
                <a:latin typeface="Arial"/>
              </a:defRPr>
            </a:pPr>
            <a:r>
              <a:t>Frontend-теста прошли</a:t>
            </a:r>
          </a:p>
        </p:txBody>
      </p:sp>
      <p:sp>
        <p:nvSpPr>
          <p:cNvPr id="8" name="TextBox 7"/>
          <p:cNvSpPr txBox="1"/>
          <p:nvPr/>
        </p:nvSpPr>
        <p:spPr>
          <a:xfrm>
            <a:off x="8375904" y="2532888"/>
            <a:ext cx="3401568" cy="1143000"/>
          </a:xfrm>
          <a:prstGeom prst="rect">
            <a:avLst/>
          </a:prstGeom>
          <a:noFill/>
        </p:spPr>
        <p:txBody>
          <a:bodyPr wrap="square" lIns="0" rIns="0" tIns="0" bIns="0">
            <a:spAutoFit/>
          </a:bodyPr>
          <a:lstStyle/>
          <a:p>
            <a:pPr>
              <a:spcBef>
                <a:spcPts val="0"/>
              </a:spcBef>
              <a:spcAft>
                <a:spcPts val="600"/>
              </a:spcAft>
              <a:defRPr sz="6400" b="1">
                <a:solidFill>
                  <a:srgbClr val="087F6B"/>
                </a:solidFill>
                <a:latin typeface="Arial"/>
              </a:defRPr>
            </a:pPr>
            <a:r>
              <a:t>6</a:t>
            </a:r>
          </a:p>
        </p:txBody>
      </p:sp>
      <p:sp>
        <p:nvSpPr>
          <p:cNvPr id="9" name="TextBox 8"/>
          <p:cNvSpPr txBox="1"/>
          <p:nvPr/>
        </p:nvSpPr>
        <p:spPr>
          <a:xfrm>
            <a:off x="8375904" y="3849624"/>
            <a:ext cx="3273552" cy="1417320"/>
          </a:xfrm>
          <a:prstGeom prst="rect">
            <a:avLst/>
          </a:prstGeom>
          <a:noFill/>
        </p:spPr>
        <p:txBody>
          <a:bodyPr wrap="square" lIns="0" rIns="0" tIns="0" bIns="0">
            <a:spAutoFit/>
          </a:bodyPr>
          <a:lstStyle/>
          <a:p>
            <a:pPr>
              <a:spcBef>
                <a:spcPts val="0"/>
              </a:spcBef>
              <a:spcAft>
                <a:spcPts val="600"/>
              </a:spcAft>
              <a:defRPr sz="2200" b="0">
                <a:solidFill>
                  <a:srgbClr val="122936"/>
                </a:solidFill>
                <a:latin typeface="Arial"/>
              </a:defRPr>
            </a:pPr>
            <a:r>
              <a:t>Отдельных новых тестов защиты скрипта подготовки прошли</a:t>
            </a:r>
          </a:p>
        </p:txBody>
      </p:sp>
      <p:sp>
        <p:nvSpPr>
          <p:cNvPr id="10" name="TextBox 9"/>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Precision, recall и F1 пока не измерены. Следующий этап — временной holdout, confusion matrix и ложные тревоги.</a:t>
            </a:r>
          </a:p>
        </p:txBody>
      </p:sp>
      <p:sp>
        <p:nvSpPr>
          <p:cNvPr id="11" name="TextBox 10"/>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08 / 12</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Сквозной тест перевода</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Конфликт голосов завершает сотрудник банка</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Создание заявки</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Амина отправляет 1 000 000,25 ₸ Айдане на чистой тестовой базе</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Семейное решение</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Марат одобряет, Сауле отклоняет. Балансы ещё не меняются</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Банковское решение</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Сотрудник фиксирует основание. Один дебет, один кредит и аудит</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Повтор команды сохраняет одно исполнение. Деньги — целые тиыны, проводки и журнал атомарны.</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09 / 12</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Готовность и риски</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TRL 4 как предварительная самооценка команды</a:t>
            </a:r>
          </a:p>
        </p:txBody>
      </p:sp>
      <p:sp>
        <p:nvSpPr>
          <p:cNvPr id="4" name="TextBox 3"/>
          <p:cNvSpPr txBox="1"/>
          <p:nvPr/>
        </p:nvSpPr>
        <p:spPr>
          <a:xfrm>
            <a:off x="731520"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Ложные тревоги</a:t>
            </a:r>
          </a:p>
        </p:txBody>
      </p:sp>
      <p:sp>
        <p:nvSpPr>
          <p:cNvPr id="5" name="TextBox 4"/>
          <p:cNvSpPr txBox="1"/>
          <p:nvPr/>
        </p:nvSpPr>
        <p:spPr>
          <a:xfrm>
            <a:off x="731520"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Валидация порогов и измерение качества до банковского пилота</a:t>
            </a:r>
          </a:p>
        </p:txBody>
      </p:sp>
      <p:sp>
        <p:nvSpPr>
          <p:cNvPr id="6" name="TextBox 5"/>
          <p:cNvSpPr txBox="1"/>
          <p:nvPr/>
        </p:nvSpPr>
        <p:spPr>
          <a:xfrm>
            <a:off x="6473952"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Родственник недоступен</a:t>
            </a:r>
          </a:p>
        </p:txBody>
      </p:sp>
      <p:sp>
        <p:nvSpPr>
          <p:cNvPr id="7" name="TextBox 6"/>
          <p:cNvSpPr txBox="1"/>
          <p:nvPr/>
        </p:nvSpPr>
        <p:spPr>
          <a:xfrm>
            <a:off x="6473952"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Явное ожидание и срок заявки. Без автоматического списания</a:t>
            </a:r>
          </a:p>
        </p:txBody>
      </p:sp>
      <p:sp>
        <p:nvSpPr>
          <p:cNvPr id="8" name="TextBox 7"/>
          <p:cNvSpPr txBox="1"/>
          <p:nvPr/>
        </p:nvSpPr>
        <p:spPr>
          <a:xfrm>
            <a:off x="731520"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Компрометация аккаунта</a:t>
            </a:r>
          </a:p>
        </p:txBody>
      </p:sp>
      <p:sp>
        <p:nvSpPr>
          <p:cNvPr id="9" name="TextBox 8"/>
          <p:cNvSpPr txBox="1"/>
          <p:nvPr/>
        </p:nvSpPr>
        <p:spPr>
          <a:xfrm>
            <a:off x="731520"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Серверные права и аудит. Усиление идентификации — задача пилота</a:t>
            </a:r>
          </a:p>
        </p:txBody>
      </p:sp>
      <p:sp>
        <p:nvSpPr>
          <p:cNvPr id="10" name="TextBox 9"/>
          <p:cNvSpPr txBox="1"/>
          <p:nvPr/>
        </p:nvSpPr>
        <p:spPr>
          <a:xfrm>
            <a:off x="6473952"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Нагрузка и интеграции</a:t>
            </a:r>
          </a:p>
        </p:txBody>
      </p:sp>
      <p:sp>
        <p:nvSpPr>
          <p:cNvPr id="11" name="TextBox 10"/>
          <p:cNvSpPr txBox="1"/>
          <p:nvPr/>
        </p:nvSpPr>
        <p:spPr>
          <a:xfrm>
            <a:off x="6473952"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Один worker и SQLite. Реальные платежи и eGov пока имитируются</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Интегрированный прототип проверен локально. Реальный банковский пилот и публичный URL пока отсутствуют.</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10 / 12</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План внедрения и ресурсы</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От конкурсного демо к согласованному банковскому стенду</a:t>
            </a:r>
          </a:p>
        </p:txBody>
      </p:sp>
      <p:sp>
        <p:nvSpPr>
          <p:cNvPr id="4" name="TextBox 3"/>
          <p:cNvSpPr txBox="1"/>
          <p:nvPr/>
        </p:nvSpPr>
        <p:spPr>
          <a:xfrm>
            <a:off x="749808" y="2377440"/>
            <a:ext cx="2798064" cy="612648"/>
          </a:xfrm>
          <a:prstGeom prst="rect">
            <a:avLst/>
          </a:prstGeom>
          <a:noFill/>
        </p:spPr>
        <p:txBody>
          <a:bodyPr wrap="square" lIns="0" rIns="0" tIns="0" bIns="0">
            <a:spAutoFit/>
          </a:bodyPr>
          <a:lstStyle/>
          <a:p>
            <a:pPr>
              <a:spcBef>
                <a:spcPts val="0"/>
              </a:spcBef>
              <a:spcAft>
                <a:spcPts val="600"/>
              </a:spcAft>
              <a:defRPr sz="1900" b="1">
                <a:solidFill>
                  <a:srgbClr val="122936"/>
                </a:solidFill>
                <a:latin typeface="Arial"/>
              </a:defRPr>
            </a:pPr>
            <a:r>
              <a:t>Октябрь–ноябрь 2026</a:t>
            </a:r>
          </a:p>
        </p:txBody>
      </p:sp>
      <p:sp>
        <p:nvSpPr>
          <p:cNvPr id="5" name="TextBox 4"/>
          <p:cNvSpPr txBox="1"/>
          <p:nvPr/>
        </p:nvSpPr>
        <p:spPr>
          <a:xfrm>
            <a:off x="3639312" y="2377440"/>
            <a:ext cx="3639312" cy="822960"/>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Публичное демо, проверка HTTPS, репетиция и конкурсный комплект</a:t>
            </a:r>
          </a:p>
        </p:txBody>
      </p:sp>
      <p:sp>
        <p:nvSpPr>
          <p:cNvPr id="6" name="TextBox 5"/>
          <p:cNvSpPr txBox="1"/>
          <p:nvPr/>
        </p:nvSpPr>
        <p:spPr>
          <a:xfrm>
            <a:off x="749808" y="3383280"/>
            <a:ext cx="2798064" cy="612648"/>
          </a:xfrm>
          <a:prstGeom prst="rect">
            <a:avLst/>
          </a:prstGeom>
          <a:noFill/>
        </p:spPr>
        <p:txBody>
          <a:bodyPr wrap="square" lIns="0" rIns="0" tIns="0" bIns="0">
            <a:spAutoFit/>
          </a:bodyPr>
          <a:lstStyle/>
          <a:p>
            <a:pPr>
              <a:spcBef>
                <a:spcPts val="0"/>
              </a:spcBef>
              <a:spcAft>
                <a:spcPts val="600"/>
              </a:spcAft>
              <a:defRPr sz="1900" b="1">
                <a:solidFill>
                  <a:srgbClr val="122936"/>
                </a:solidFill>
                <a:latin typeface="Arial"/>
              </a:defRPr>
            </a:pPr>
            <a:r>
              <a:t>Этап пилота 1</a:t>
            </a:r>
          </a:p>
        </p:txBody>
      </p:sp>
      <p:sp>
        <p:nvSpPr>
          <p:cNvPr id="7" name="TextBox 6"/>
          <p:cNvSpPr txBox="1"/>
          <p:nvPr/>
        </p:nvSpPr>
        <p:spPr>
          <a:xfrm>
            <a:off x="3639312" y="3383280"/>
            <a:ext cx="3639312" cy="822960"/>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Данные с лицензией, временная оценка правил и пользовательские испытания</a:t>
            </a:r>
          </a:p>
        </p:txBody>
      </p:sp>
      <p:sp>
        <p:nvSpPr>
          <p:cNvPr id="8" name="TextBox 7"/>
          <p:cNvSpPr txBox="1"/>
          <p:nvPr/>
        </p:nvSpPr>
        <p:spPr>
          <a:xfrm>
            <a:off x="749808" y="4389120"/>
            <a:ext cx="2798064" cy="612648"/>
          </a:xfrm>
          <a:prstGeom prst="rect">
            <a:avLst/>
          </a:prstGeom>
          <a:noFill/>
        </p:spPr>
        <p:txBody>
          <a:bodyPr wrap="square" lIns="0" rIns="0" tIns="0" bIns="0">
            <a:spAutoFit/>
          </a:bodyPr>
          <a:lstStyle/>
          <a:p>
            <a:pPr>
              <a:spcBef>
                <a:spcPts val="0"/>
              </a:spcBef>
              <a:spcAft>
                <a:spcPts val="600"/>
              </a:spcAft>
              <a:defRPr sz="1900" b="1">
                <a:solidFill>
                  <a:srgbClr val="122936"/>
                </a:solidFill>
                <a:latin typeface="Arial"/>
              </a:defRPr>
            </a:pPr>
            <a:r>
              <a:t>Этап пилота 2</a:t>
            </a:r>
          </a:p>
        </p:txBody>
      </p:sp>
      <p:sp>
        <p:nvSpPr>
          <p:cNvPr id="9" name="TextBox 8"/>
          <p:cNvSpPr txBox="1"/>
          <p:nvPr/>
        </p:nvSpPr>
        <p:spPr>
          <a:xfrm>
            <a:off x="3639312" y="4389120"/>
            <a:ext cx="3639312" cy="822960"/>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Sandbox банка, уведомления, нагрузка и процедуры восстановления</a:t>
            </a:r>
          </a:p>
        </p:txBody>
      </p:sp>
      <p:sp>
        <p:nvSpPr>
          <p:cNvPr id="10" name="TextBox 9"/>
          <p:cNvSpPr txBox="1"/>
          <p:nvPr/>
        </p:nvSpPr>
        <p:spPr>
          <a:xfrm>
            <a:off x="7882127" y="2514600"/>
            <a:ext cx="3749039" cy="1097280"/>
          </a:xfrm>
          <a:prstGeom prst="rect">
            <a:avLst/>
          </a:prstGeom>
          <a:noFill/>
        </p:spPr>
        <p:txBody>
          <a:bodyPr wrap="square" lIns="0" rIns="0" tIns="0" bIns="0">
            <a:spAutoFit/>
          </a:bodyPr>
          <a:lstStyle/>
          <a:p>
            <a:pPr>
              <a:spcBef>
                <a:spcPts val="0"/>
              </a:spcBef>
              <a:spcAft>
                <a:spcPts val="600"/>
              </a:spcAft>
              <a:defRPr sz="3200" b="1">
                <a:solidFill>
                  <a:srgbClr val="087F6B"/>
                </a:solidFill>
                <a:latin typeface="Arial"/>
              </a:defRPr>
            </a:pPr>
            <a:r>
              <a:t>$12 / месяц</a:t>
            </a:r>
          </a:p>
        </p:txBody>
      </p:sp>
      <p:sp>
        <p:nvSpPr>
          <p:cNvPr id="11" name="TextBox 10"/>
          <p:cNvSpPr txBox="1"/>
          <p:nvPr/>
        </p:nvSpPr>
        <p:spPr>
          <a:xfrm>
            <a:off x="7918704" y="3657600"/>
            <a:ext cx="3374136" cy="1554480"/>
          </a:xfrm>
          <a:prstGeom prst="rect">
            <a:avLst/>
          </a:prstGeom>
          <a:noFill/>
        </p:spPr>
        <p:txBody>
          <a:bodyPr wrap="square" lIns="0" rIns="0" tIns="0" bIns="0">
            <a:spAutoFit/>
          </a:bodyPr>
          <a:lstStyle/>
          <a:p>
            <a:pPr>
              <a:spcBef>
                <a:spcPts val="0"/>
              </a:spcBef>
              <a:spcAft>
                <a:spcPts val="600"/>
              </a:spcAft>
              <a:defRPr sz="2100" b="0">
                <a:solidFill>
                  <a:srgbClr val="122936"/>
                </a:solidFill>
                <a:latin typeface="Arial"/>
              </a:defRPr>
            </a:pPr>
            <a:r>
              <a:t>Предлагаемый VPS: 2 ГиБ RAM и 1 vCPU</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Два полных месяца: $24 за сервер. Домен, налоги, резервное копирование и труд оцениваются отдельно.</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11 / 12</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Следующий шаг</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Партнёр для проверки на банковском sandbox</a:t>
            </a:r>
          </a:p>
        </p:txBody>
      </p:sp>
      <p:sp>
        <p:nvSpPr>
          <p:cNvPr id="4" name="TextBox 3"/>
          <p:cNvSpPr txBox="1"/>
          <p:nvPr/>
        </p:nvSpPr>
        <p:spPr>
          <a:xfrm>
            <a:off x="749808" y="2395728"/>
            <a:ext cx="3209544" cy="731520"/>
          </a:xfrm>
          <a:prstGeom prst="rect">
            <a:avLst/>
          </a:prstGeom>
          <a:noFill/>
        </p:spPr>
        <p:txBody>
          <a:bodyPr wrap="square" lIns="0" rIns="0" tIns="0" bIns="0">
            <a:spAutoFit/>
          </a:bodyPr>
          <a:lstStyle/>
          <a:p>
            <a:pPr>
              <a:spcBef>
                <a:spcPts val="0"/>
              </a:spcBef>
              <a:spcAft>
                <a:spcPts val="600"/>
              </a:spcAft>
              <a:defRPr sz="2100" b="1">
                <a:solidFill>
                  <a:srgbClr val="45D6B4"/>
                </a:solidFill>
                <a:latin typeface="Arial"/>
              </a:defRPr>
            </a:pPr>
            <a:r>
              <a:t>Что уже есть</a:t>
            </a:r>
          </a:p>
        </p:txBody>
      </p:sp>
      <p:sp>
        <p:nvSpPr>
          <p:cNvPr id="5" name="TextBox 4"/>
          <p:cNvSpPr txBox="1"/>
          <p:nvPr/>
        </p:nvSpPr>
        <p:spPr>
          <a:xfrm>
            <a:off x="4434840" y="2395728"/>
            <a:ext cx="6949440" cy="850392"/>
          </a:xfrm>
          <a:prstGeom prst="rect">
            <a:avLst/>
          </a:prstGeom>
          <a:noFill/>
        </p:spPr>
        <p:txBody>
          <a:bodyPr wrap="square" lIns="0" rIns="0" tIns="0" bIns="0">
            <a:spAutoFit/>
          </a:bodyPr>
          <a:lstStyle/>
          <a:p>
            <a:pPr>
              <a:spcBef>
                <a:spcPts val="0"/>
              </a:spcBef>
              <a:spcAft>
                <a:spcPts val="600"/>
              </a:spcAft>
              <a:defRPr sz="2000" b="0">
                <a:solidFill>
                  <a:srgbClr val="F4F7F8"/>
                </a:solidFill>
                <a:latin typeface="Arial"/>
              </a:defRPr>
            </a:pPr>
            <a:r>
              <a:t>Работающий MVP, исходники, инструкция и воспроизводимые проверки</a:t>
            </a:r>
          </a:p>
        </p:txBody>
      </p:sp>
      <p:sp>
        <p:nvSpPr>
          <p:cNvPr id="6" name="TextBox 5"/>
          <p:cNvSpPr txBox="1"/>
          <p:nvPr/>
        </p:nvSpPr>
        <p:spPr>
          <a:xfrm>
            <a:off x="749808" y="3483864"/>
            <a:ext cx="3209544" cy="731520"/>
          </a:xfrm>
          <a:prstGeom prst="rect">
            <a:avLst/>
          </a:prstGeom>
          <a:noFill/>
        </p:spPr>
        <p:txBody>
          <a:bodyPr wrap="square" lIns="0" rIns="0" tIns="0" bIns="0">
            <a:spAutoFit/>
          </a:bodyPr>
          <a:lstStyle/>
          <a:p>
            <a:pPr>
              <a:spcBef>
                <a:spcPts val="0"/>
              </a:spcBef>
              <a:spcAft>
                <a:spcPts val="600"/>
              </a:spcAft>
              <a:defRPr sz="2100" b="1">
                <a:solidFill>
                  <a:srgbClr val="45D6B4"/>
                </a:solidFill>
                <a:latin typeface="Arial"/>
              </a:defRPr>
            </a:pPr>
            <a:r>
              <a:t>Что нужно от партнёра</a:t>
            </a:r>
          </a:p>
        </p:txBody>
      </p:sp>
      <p:sp>
        <p:nvSpPr>
          <p:cNvPr id="7" name="TextBox 6"/>
          <p:cNvSpPr txBox="1"/>
          <p:nvPr/>
        </p:nvSpPr>
        <p:spPr>
          <a:xfrm>
            <a:off x="4434840" y="3483864"/>
            <a:ext cx="6949440" cy="850392"/>
          </a:xfrm>
          <a:prstGeom prst="rect">
            <a:avLst/>
          </a:prstGeom>
          <a:noFill/>
        </p:spPr>
        <p:txBody>
          <a:bodyPr wrap="square" lIns="0" rIns="0" tIns="0" bIns="0">
            <a:spAutoFit/>
          </a:bodyPr>
          <a:lstStyle/>
          <a:p>
            <a:pPr>
              <a:spcBef>
                <a:spcPts val="0"/>
              </a:spcBef>
              <a:spcAft>
                <a:spcPts val="600"/>
              </a:spcAft>
              <a:defRPr sz="2000" b="0">
                <a:solidFill>
                  <a:srgbClr val="F4F7F8"/>
                </a:solidFill>
                <a:latin typeface="Arial"/>
              </a:defRPr>
            </a:pPr>
            <a:r>
              <a:t>Эксперт антифрода, согласованные данные и сценарий пилота</a:t>
            </a:r>
          </a:p>
        </p:txBody>
      </p:sp>
      <p:sp>
        <p:nvSpPr>
          <p:cNvPr id="8" name="TextBox 7"/>
          <p:cNvSpPr txBox="1"/>
          <p:nvPr/>
        </p:nvSpPr>
        <p:spPr>
          <a:xfrm>
            <a:off x="749808" y="4572000"/>
            <a:ext cx="3209544" cy="731520"/>
          </a:xfrm>
          <a:prstGeom prst="rect">
            <a:avLst/>
          </a:prstGeom>
          <a:noFill/>
        </p:spPr>
        <p:txBody>
          <a:bodyPr wrap="square" lIns="0" rIns="0" tIns="0" bIns="0">
            <a:spAutoFit/>
          </a:bodyPr>
          <a:lstStyle/>
          <a:p>
            <a:pPr>
              <a:spcBef>
                <a:spcPts val="0"/>
              </a:spcBef>
              <a:spcAft>
                <a:spcPts val="600"/>
              </a:spcAft>
              <a:defRPr sz="2100" b="1">
                <a:solidFill>
                  <a:srgbClr val="45D6B4"/>
                </a:solidFill>
                <a:latin typeface="Arial"/>
              </a:defRPr>
            </a:pPr>
            <a:r>
              <a:t>Демо</a:t>
            </a:r>
          </a:p>
        </p:txBody>
      </p:sp>
      <p:sp>
        <p:nvSpPr>
          <p:cNvPr id="9" name="TextBox 8"/>
          <p:cNvSpPr txBox="1"/>
          <p:nvPr/>
        </p:nvSpPr>
        <p:spPr>
          <a:xfrm>
            <a:off x="4434840" y="4572000"/>
            <a:ext cx="6949440" cy="850392"/>
          </a:xfrm>
          <a:prstGeom prst="rect">
            <a:avLst/>
          </a:prstGeom>
          <a:noFill/>
        </p:spPr>
        <p:txBody>
          <a:bodyPr wrap="square" lIns="0" rIns="0" tIns="0" bIns="0">
            <a:spAutoFit/>
          </a:bodyPr>
          <a:lstStyle/>
          <a:p>
            <a:pPr>
              <a:spcBef>
                <a:spcPts val="0"/>
              </a:spcBef>
              <a:spcAft>
                <a:spcPts val="600"/>
              </a:spcAft>
              <a:defRPr sz="2000" b="0">
                <a:solidFill>
                  <a:srgbClr val="F4F7F8"/>
                </a:solidFill>
                <a:latin typeface="Arial"/>
              </a:defRPr>
            </a:pPr>
            <a:r>
              <a:t>Локальный Docker-прототип. Внешнюю ссылку добавим после деплоя</a:t>
            </a:r>
          </a:p>
        </p:txBody>
      </p:sp>
      <p:sp>
        <p:nvSpPr>
          <p:cNvPr id="10" name="TextBox 9"/>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rPr>
                <a:hlinkClick r:id="rId2"/>
              </a:rPr>
              <a:t>github.com/z4n9/anti_fraud_combined</a:t>
            </a:r>
          </a:p>
        </p:txBody>
      </p:sp>
      <p:sp>
        <p:nvSpPr>
          <p:cNvPr id="11" name="TextBox 10"/>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12 / 12</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5D6B4"/>
      </a:hlink>
      <a:folHlink>
        <a:srgbClr val="45D6B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5D6B4"/>
      </a:hlink>
      <a:folHlink>
        <a:srgbClr val="45D6B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AMAN Guard — семейная защита банковских переводов</dc:title>
  <dc:subject>Pitch-deck Caspian University, конкурс АБРК 2026</dc:subject>
  <dc:creator>Команда проекта AMAN Guard</dc:creator>
  <cp:keywords>Fintech, Cybersecurity, Family protection, MVP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